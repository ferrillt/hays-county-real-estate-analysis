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257" r:id="rId5"/>
    <p:sldId id="269" r:id="rId6"/>
    <p:sldId id="266" r:id="rId7"/>
    <p:sldId id="260" r:id="rId8"/>
    <p:sldId id="261" r:id="rId9"/>
    <p:sldId id="262" r:id="rId10"/>
    <p:sldId id="263" r:id="rId11"/>
    <p:sldId id="264" r:id="rId12"/>
    <p:sldId id="265" r:id="rId13"/>
    <p:sldId id="267" r:id="rId14"/>
    <p:sldId id="268"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86533" autoAdjust="0"/>
  </p:normalViewPr>
  <p:slideViewPr>
    <p:cSldViewPr snapToGrid="0">
      <p:cViewPr varScale="1">
        <p:scale>
          <a:sx n="71" d="100"/>
          <a:sy n="71" d="100"/>
        </p:scale>
        <p:origin x="121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03ED75-3556-446B-B868-3B23598596F7}"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EED477-B11E-42C7-8460-37E43B4973D4}" type="slidenum">
              <a:rPr lang="en-US" smtClean="0"/>
              <a:t>‹#›</a:t>
            </a:fld>
            <a:endParaRPr lang="en-US"/>
          </a:p>
        </p:txBody>
      </p:sp>
    </p:spTree>
    <p:extLst>
      <p:ext uri="{BB962C8B-B14F-4D97-AF65-F5344CB8AC3E}">
        <p14:creationId xmlns:p14="http://schemas.microsoft.com/office/powerpoint/2010/main" val="866081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I’m Teresa Ferrill. This project examines whether information about Hays County’s housing market can help estimate its median days on market one month in advance. I compared several forecasting approaches and considered how real estate professionals could use the result when discussing market conditions with clients.</a:t>
            </a:r>
          </a:p>
          <a:p>
            <a:endParaRPr lang="en-US" dirty="0"/>
          </a:p>
        </p:txBody>
      </p:sp>
      <p:sp>
        <p:nvSpPr>
          <p:cNvPr id="4" name="Slide Number Placeholder 3"/>
          <p:cNvSpPr>
            <a:spLocks noGrp="1"/>
          </p:cNvSpPr>
          <p:nvPr>
            <p:ph type="sldNum" sz="quarter" idx="5"/>
          </p:nvPr>
        </p:nvSpPr>
        <p:spPr/>
        <p:txBody>
          <a:bodyPr/>
          <a:lstStyle/>
          <a:p>
            <a:fld id="{AAEED477-B11E-42C7-8460-37E43B4973D4}" type="slidenum">
              <a:rPr lang="en-US" smtClean="0"/>
              <a:t>1</a:t>
            </a:fld>
            <a:endParaRPr lang="en-US"/>
          </a:p>
        </p:txBody>
      </p:sp>
    </p:spTree>
    <p:extLst>
      <p:ext uri="{BB962C8B-B14F-4D97-AF65-F5344CB8AC3E}">
        <p14:creationId xmlns:p14="http://schemas.microsoft.com/office/powerpoint/2010/main" val="2510148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Median days on market, or MDOM, describes the middle value of listing times for homes in the county. It gives us a way to discuss how quickly the market is moving. My question was whether current housing conditions, mortgage rates, and seasonal patterns could provide a useful estimate of next month’s MDOM. This is a countywide forecast for Hays County, Texas, rather than a prediction for any particular home.</a:t>
            </a:r>
          </a:p>
          <a:p>
            <a:endParaRPr lang="en-US" dirty="0"/>
          </a:p>
        </p:txBody>
      </p:sp>
      <p:sp>
        <p:nvSpPr>
          <p:cNvPr id="4" name="Slide Number Placeholder 3"/>
          <p:cNvSpPr>
            <a:spLocks noGrp="1"/>
          </p:cNvSpPr>
          <p:nvPr>
            <p:ph type="sldNum" sz="quarter" idx="5"/>
          </p:nvPr>
        </p:nvSpPr>
        <p:spPr/>
        <p:txBody>
          <a:bodyPr/>
          <a:lstStyle/>
          <a:p>
            <a:fld id="{AAEED477-B11E-42C7-8460-37E43B4973D4}" type="slidenum">
              <a:rPr lang="en-US" smtClean="0"/>
              <a:t>2</a:t>
            </a:fld>
            <a:endParaRPr lang="en-US"/>
          </a:p>
        </p:txBody>
      </p:sp>
    </p:spTree>
    <p:extLst>
      <p:ext uri="{BB962C8B-B14F-4D97-AF65-F5344CB8AC3E}">
        <p14:creationId xmlns:p14="http://schemas.microsoft.com/office/powerpoint/2010/main" val="2524014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chart shows a clear seasonal pattern. Across the period I studied, January had the highest calendar-month median at 77 days, while April had the lowest at 46.5 days. Market speed also changed substantially from year to year. An agent advising a client needs to understand both patterns: what typically happens during the season and whether current conditions suggest a change in pace.</a:t>
            </a:r>
          </a:p>
          <a:p>
            <a:endParaRPr lang="en-US" dirty="0"/>
          </a:p>
        </p:txBody>
      </p:sp>
      <p:sp>
        <p:nvSpPr>
          <p:cNvPr id="4" name="Slide Number Placeholder 3"/>
          <p:cNvSpPr>
            <a:spLocks noGrp="1"/>
          </p:cNvSpPr>
          <p:nvPr>
            <p:ph type="sldNum" sz="quarter" idx="5"/>
          </p:nvPr>
        </p:nvSpPr>
        <p:spPr/>
        <p:txBody>
          <a:bodyPr/>
          <a:lstStyle/>
          <a:p>
            <a:fld id="{AAEED477-B11E-42C7-8460-37E43B4973D4}" type="slidenum">
              <a:rPr lang="en-US" smtClean="0"/>
              <a:t>3</a:t>
            </a:fld>
            <a:endParaRPr lang="en-US"/>
          </a:p>
        </p:txBody>
      </p:sp>
    </p:spTree>
    <p:extLst>
      <p:ext uri="{BB962C8B-B14F-4D97-AF65-F5344CB8AC3E}">
        <p14:creationId xmlns:p14="http://schemas.microsoft.com/office/powerpoint/2010/main" val="8625572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combined two public data sources. Realtor.com supplied monthly housing measures for Hays County, including median days on market, listing prices, and inventory. Freddie Mac supplied weekly 30-year mortgage rates, which I averaged by month so the dates would match. The combined dataset covers July 2016 through August 2026, or 122 consecutive months. I checked for missing and duplicate months, joined the sources by month, and placed each following month’s MDOM on the current month’s row as the outcome to predict. That left 121 rows with a known outcome for model development and evaluation.</a:t>
            </a:r>
          </a:p>
        </p:txBody>
      </p:sp>
      <p:sp>
        <p:nvSpPr>
          <p:cNvPr id="4" name="Slide Number Placeholder 3"/>
          <p:cNvSpPr>
            <a:spLocks noGrp="1"/>
          </p:cNvSpPr>
          <p:nvPr>
            <p:ph type="sldNum" sz="quarter" idx="5"/>
          </p:nvPr>
        </p:nvSpPr>
        <p:spPr/>
        <p:txBody>
          <a:bodyPr/>
          <a:lstStyle/>
          <a:p>
            <a:fld id="{AAEED477-B11E-42C7-8460-37E43B4973D4}" type="slidenum">
              <a:rPr lang="en-US" smtClean="0"/>
              <a:t>4</a:t>
            </a:fld>
            <a:endParaRPr lang="en-US"/>
          </a:p>
        </p:txBody>
      </p:sp>
    </p:spTree>
    <p:extLst>
      <p:ext uri="{BB962C8B-B14F-4D97-AF65-F5344CB8AC3E}">
        <p14:creationId xmlns:p14="http://schemas.microsoft.com/office/powerpoint/2010/main" val="1065468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Because this is a forecast, I kept the observations in date order. I trained the models on 97 earlier observations and reserved the final 24 for testing. I used time-series cross-validation within the training period when tuning ridge regression and random forest. I also compared the models with two straightforward forecasts: carrying forward the current month’s MDOM and using the value from the same month a year earlier. The August 2026 predictor record was saved for the September forecast after the model comparison.</a:t>
            </a:r>
          </a:p>
          <a:p>
            <a:endParaRPr lang="en-US" dirty="0"/>
          </a:p>
        </p:txBody>
      </p:sp>
      <p:sp>
        <p:nvSpPr>
          <p:cNvPr id="4" name="Slide Number Placeholder 3"/>
          <p:cNvSpPr>
            <a:spLocks noGrp="1"/>
          </p:cNvSpPr>
          <p:nvPr>
            <p:ph type="sldNum" sz="quarter" idx="5"/>
          </p:nvPr>
        </p:nvSpPr>
        <p:spPr/>
        <p:txBody>
          <a:bodyPr/>
          <a:lstStyle/>
          <a:p>
            <a:fld id="{AAEED477-B11E-42C7-8460-37E43B4973D4}" type="slidenum">
              <a:rPr lang="en-US" smtClean="0"/>
              <a:t>5</a:t>
            </a:fld>
            <a:endParaRPr lang="en-US"/>
          </a:p>
        </p:txBody>
      </p:sp>
    </p:spTree>
    <p:extLst>
      <p:ext uri="{BB962C8B-B14F-4D97-AF65-F5344CB8AC3E}">
        <p14:creationId xmlns:p14="http://schemas.microsoft.com/office/powerpoint/2010/main" val="2235379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linear regression, ridge regression, and a constrained random forest. Ridge regression was useful here because several housing measures are related, and its regularization limits how strongly the model responds to those overlapping inputs. This chart compares mean absolute error, which is the average size of a forecast miss in days. Ridge had the lowest error at 4.64 days. The previous-month forecast missed by 7.21 days on average, so ridge reduced average error by 35.7 percent in this test period. The more complex random forest did not improve on the simpler approaches in this dataset.</a:t>
            </a:r>
          </a:p>
          <a:p>
            <a:endParaRPr lang="en-US" dirty="0"/>
          </a:p>
        </p:txBody>
      </p:sp>
      <p:sp>
        <p:nvSpPr>
          <p:cNvPr id="4" name="Slide Number Placeholder 3"/>
          <p:cNvSpPr>
            <a:spLocks noGrp="1"/>
          </p:cNvSpPr>
          <p:nvPr>
            <p:ph type="sldNum" sz="quarter" idx="5"/>
          </p:nvPr>
        </p:nvSpPr>
        <p:spPr/>
        <p:txBody>
          <a:bodyPr/>
          <a:lstStyle/>
          <a:p>
            <a:fld id="{AAEED477-B11E-42C7-8460-37E43B4973D4}" type="slidenum">
              <a:rPr lang="en-US" smtClean="0"/>
              <a:t>6</a:t>
            </a:fld>
            <a:endParaRPr lang="en-US"/>
          </a:p>
        </p:txBody>
      </p:sp>
    </p:spTree>
    <p:extLst>
      <p:ext uri="{BB962C8B-B14F-4D97-AF65-F5344CB8AC3E}">
        <p14:creationId xmlns:p14="http://schemas.microsoft.com/office/powerpoint/2010/main" val="1795472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compares the observed monthly values with the model predictions across the 24 test months. Ridge generally followed the changes in market speed, including the broad seasonal movement. It was not right every month. Its largest miss was about 14.7 days in March 2025, when its estimate was higher than the observed value. That is why I would show the model’s historical error when presenting a new forecast and review unusually large changes before sharing them.</a:t>
            </a:r>
          </a:p>
          <a:p>
            <a:endParaRPr lang="en-US" dirty="0"/>
          </a:p>
        </p:txBody>
      </p:sp>
      <p:sp>
        <p:nvSpPr>
          <p:cNvPr id="4" name="Slide Number Placeholder 3"/>
          <p:cNvSpPr>
            <a:spLocks noGrp="1"/>
          </p:cNvSpPr>
          <p:nvPr>
            <p:ph type="sldNum" sz="quarter" idx="5"/>
          </p:nvPr>
        </p:nvSpPr>
        <p:spPr/>
        <p:txBody>
          <a:bodyPr/>
          <a:lstStyle/>
          <a:p>
            <a:fld id="{AAEED477-B11E-42C7-8460-37E43B4973D4}" type="slidenum">
              <a:rPr lang="en-US" smtClean="0"/>
              <a:t>7</a:t>
            </a:fld>
            <a:endParaRPr lang="en-US"/>
          </a:p>
        </p:txBody>
      </p:sp>
    </p:spTree>
    <p:extLst>
      <p:ext uri="{BB962C8B-B14F-4D97-AF65-F5344CB8AC3E}">
        <p14:creationId xmlns:p14="http://schemas.microsoft.com/office/powerpoint/2010/main" val="4018884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selecting ridge, I refitted it using all 121 observations with known outcomes. Using the August 2026 housing and mortgage-rate information, it estimated September’s countywide median days on market at 82.5 days. August’s observed value was 78 days, so the estimate suggests a slightly slower market, by about 4.5 days. The 4.64-day figure at the bottom is the model’s </a:t>
            </a:r>
            <a:r>
              <a:rPr lang="en-US" i="1" dirty="0"/>
              <a:t>average error during testing</a:t>
            </a:r>
            <a:r>
              <a:rPr lang="en-US" dirty="0"/>
              <a:t>. It is context for the estimate, not a guaranteed range around 82.5 days.</a:t>
            </a:r>
          </a:p>
          <a:p>
            <a:endParaRPr lang="en-US" dirty="0"/>
          </a:p>
        </p:txBody>
      </p:sp>
      <p:sp>
        <p:nvSpPr>
          <p:cNvPr id="4" name="Slide Number Placeholder 3"/>
          <p:cNvSpPr>
            <a:spLocks noGrp="1"/>
          </p:cNvSpPr>
          <p:nvPr>
            <p:ph type="sldNum" sz="quarter" idx="5"/>
          </p:nvPr>
        </p:nvSpPr>
        <p:spPr/>
        <p:txBody>
          <a:bodyPr/>
          <a:lstStyle/>
          <a:p>
            <a:fld id="{AAEED477-B11E-42C7-8460-37E43B4973D4}" type="slidenum">
              <a:rPr lang="en-US" smtClean="0"/>
              <a:t>8</a:t>
            </a:fld>
            <a:endParaRPr lang="en-US"/>
          </a:p>
        </p:txBody>
      </p:sp>
    </p:spTree>
    <p:extLst>
      <p:ext uri="{BB962C8B-B14F-4D97-AF65-F5344CB8AC3E}">
        <p14:creationId xmlns:p14="http://schemas.microsoft.com/office/powerpoint/2010/main" val="1352227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median days on market and the number of active listings had the strongest positive coefficients in the ridge model. New listings, seasonal measures, and the pending ratio also contributed. Mortgage rates were included, although their coefficient was comparatively small after accounting for the other inputs. These coefficients describe relationships in this fitted model. They do not show that changing any one factor would cause the market to speed up or slow down.</a:t>
            </a:r>
          </a:p>
          <a:p>
            <a:endParaRPr lang="en-US" dirty="0"/>
          </a:p>
        </p:txBody>
      </p:sp>
      <p:sp>
        <p:nvSpPr>
          <p:cNvPr id="4" name="Slide Number Placeholder 3"/>
          <p:cNvSpPr>
            <a:spLocks noGrp="1"/>
          </p:cNvSpPr>
          <p:nvPr>
            <p:ph type="sldNum" sz="quarter" idx="5"/>
          </p:nvPr>
        </p:nvSpPr>
        <p:spPr/>
        <p:txBody>
          <a:bodyPr/>
          <a:lstStyle/>
          <a:p>
            <a:fld id="{AAEED477-B11E-42C7-8460-37E43B4973D4}" type="slidenum">
              <a:rPr lang="en-US" smtClean="0"/>
              <a:t>9</a:t>
            </a:fld>
            <a:endParaRPr lang="en-US"/>
          </a:p>
        </p:txBody>
      </p:sp>
    </p:spTree>
    <p:extLst>
      <p:ext uri="{BB962C8B-B14F-4D97-AF65-F5344CB8AC3E}">
        <p14:creationId xmlns:p14="http://schemas.microsoft.com/office/powerpoint/2010/main" val="544522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analysis covers one county, and its performance was measured on one 24-month test period. Conditions can differ among Hays County communities, and a home’s location, condition, and asking price can make its experience very different from the county median. The forecast should be described as an estimate, alongside its historical error, and considered with comparable sales and professional judgment. It should never be presented as a guarantee or used to target or exclude protected groups.</a:t>
            </a:r>
          </a:p>
          <a:p>
            <a:endParaRPr lang="en-US" dirty="0"/>
          </a:p>
        </p:txBody>
      </p:sp>
      <p:sp>
        <p:nvSpPr>
          <p:cNvPr id="4" name="Slide Number Placeholder 3"/>
          <p:cNvSpPr>
            <a:spLocks noGrp="1"/>
          </p:cNvSpPr>
          <p:nvPr>
            <p:ph type="sldNum" sz="quarter" idx="5"/>
          </p:nvPr>
        </p:nvSpPr>
        <p:spPr/>
        <p:txBody>
          <a:bodyPr/>
          <a:lstStyle/>
          <a:p>
            <a:fld id="{AAEED477-B11E-42C7-8460-37E43B4973D4}" type="slidenum">
              <a:rPr lang="en-US" smtClean="0"/>
              <a:t>10</a:t>
            </a:fld>
            <a:endParaRPr lang="en-US"/>
          </a:p>
        </p:txBody>
      </p:sp>
    </p:spTree>
    <p:extLst>
      <p:ext uri="{BB962C8B-B14F-4D97-AF65-F5344CB8AC3E}">
        <p14:creationId xmlns:p14="http://schemas.microsoft.com/office/powerpoint/2010/main" val="1113718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recommend updating the forecast each month after the new source data become available. A market dashboard could display the forecast, the latest actual MDOM, the expected change, and the model’s historical error. An analyst or broker should review unexpected changes before using the result with clients. In the period tested, ridge provided a useful early indicator of countywide market speed, with an average error of 4.64 days. Its best use is to support a conversation about current conditions and reasonable expectations. This forecast gives real estate professionals another way to discuss countywide market conditions with clients. Thank you.</a:t>
            </a:r>
          </a:p>
          <a:p>
            <a:endParaRPr lang="en-US" dirty="0"/>
          </a:p>
        </p:txBody>
      </p:sp>
      <p:sp>
        <p:nvSpPr>
          <p:cNvPr id="4" name="Slide Number Placeholder 3"/>
          <p:cNvSpPr>
            <a:spLocks noGrp="1"/>
          </p:cNvSpPr>
          <p:nvPr>
            <p:ph type="sldNum" sz="quarter" idx="5"/>
          </p:nvPr>
        </p:nvSpPr>
        <p:spPr/>
        <p:txBody>
          <a:bodyPr/>
          <a:lstStyle/>
          <a:p>
            <a:fld id="{AAEED477-B11E-42C7-8460-37E43B4973D4}" type="slidenum">
              <a:rPr lang="en-US" smtClean="0"/>
              <a:t>11</a:t>
            </a:fld>
            <a:endParaRPr lang="en-US"/>
          </a:p>
        </p:txBody>
      </p:sp>
    </p:spTree>
    <p:extLst>
      <p:ext uri="{BB962C8B-B14F-4D97-AF65-F5344CB8AC3E}">
        <p14:creationId xmlns:p14="http://schemas.microsoft.com/office/powerpoint/2010/main" val="29163375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EED477-B11E-42C7-8460-37E43B4973D4}" type="slidenum">
              <a:rPr lang="en-US" smtClean="0"/>
              <a:t>12</a:t>
            </a:fld>
            <a:endParaRPr lang="en-US"/>
          </a:p>
        </p:txBody>
      </p:sp>
    </p:spTree>
    <p:extLst>
      <p:ext uri="{BB962C8B-B14F-4D97-AF65-F5344CB8AC3E}">
        <p14:creationId xmlns:p14="http://schemas.microsoft.com/office/powerpoint/2010/main" val="2737962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49AA8-5DF2-3C23-CF27-4F2F2E51FE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674894-BA0A-C07D-48EF-E1375FCC73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8A9F9F-5D62-6BF1-23B4-DA5158B4D700}"/>
              </a:ext>
            </a:extLst>
          </p:cNvPr>
          <p:cNvSpPr>
            <a:spLocks noGrp="1"/>
          </p:cNvSpPr>
          <p:nvPr>
            <p:ph type="dt" sz="half" idx="10"/>
          </p:nvPr>
        </p:nvSpPr>
        <p:spPr/>
        <p:txBody>
          <a:bodyPr/>
          <a:lstStyle/>
          <a:p>
            <a:fld id="{8B949A4B-A073-41AD-848C-92F7D79ADE33}" type="datetimeFigureOut">
              <a:rPr lang="en-US" smtClean="0"/>
              <a:t>9/30/2026</a:t>
            </a:fld>
            <a:endParaRPr lang="en-US"/>
          </a:p>
        </p:txBody>
      </p:sp>
      <p:sp>
        <p:nvSpPr>
          <p:cNvPr id="5" name="Footer Placeholder 4">
            <a:extLst>
              <a:ext uri="{FF2B5EF4-FFF2-40B4-BE49-F238E27FC236}">
                <a16:creationId xmlns:a16="http://schemas.microsoft.com/office/drawing/2014/main" id="{3912E95C-0717-B402-4DE5-1105250872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F72C7-FC28-56D5-A5AD-6420C8680B0D}"/>
              </a:ext>
            </a:extLst>
          </p:cNvPr>
          <p:cNvSpPr>
            <a:spLocks noGrp="1"/>
          </p:cNvSpPr>
          <p:nvPr>
            <p:ph type="sldNum" sz="quarter" idx="12"/>
          </p:nvPr>
        </p:nvSpPr>
        <p:spPr/>
        <p:txBody>
          <a:bodyPr/>
          <a:lstStyle/>
          <a:p>
            <a:fld id="{10E1FAFC-EF96-440E-AAED-57B77EC8C4A2}" type="slidenum">
              <a:rPr lang="en-US" smtClean="0"/>
              <a:t>‹#›</a:t>
            </a:fld>
            <a:endParaRPr lang="en-US"/>
          </a:p>
        </p:txBody>
      </p:sp>
    </p:spTree>
    <p:extLst>
      <p:ext uri="{BB962C8B-B14F-4D97-AF65-F5344CB8AC3E}">
        <p14:creationId xmlns:p14="http://schemas.microsoft.com/office/powerpoint/2010/main" val="2465210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B6858-E5FC-B0D3-106E-5DB3F22299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9879CC-0B7A-61BF-AD32-BD7889BEF8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B49ECC-FD70-63B5-747B-1DA756B3D425}"/>
              </a:ext>
            </a:extLst>
          </p:cNvPr>
          <p:cNvSpPr>
            <a:spLocks noGrp="1"/>
          </p:cNvSpPr>
          <p:nvPr>
            <p:ph type="dt" sz="half" idx="10"/>
          </p:nvPr>
        </p:nvSpPr>
        <p:spPr/>
        <p:txBody>
          <a:bodyPr/>
          <a:lstStyle/>
          <a:p>
            <a:fld id="{8B949A4B-A073-41AD-848C-92F7D79ADE33}" type="datetimeFigureOut">
              <a:rPr lang="en-US" smtClean="0"/>
              <a:t>9/30/2026</a:t>
            </a:fld>
            <a:endParaRPr lang="en-US"/>
          </a:p>
        </p:txBody>
      </p:sp>
      <p:sp>
        <p:nvSpPr>
          <p:cNvPr id="5" name="Footer Placeholder 4">
            <a:extLst>
              <a:ext uri="{FF2B5EF4-FFF2-40B4-BE49-F238E27FC236}">
                <a16:creationId xmlns:a16="http://schemas.microsoft.com/office/drawing/2014/main" id="{F632E1C0-9DE3-C604-5372-4C1D43C7BC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2F927D-E7EF-E875-1E5C-0DF76B7EB920}"/>
              </a:ext>
            </a:extLst>
          </p:cNvPr>
          <p:cNvSpPr>
            <a:spLocks noGrp="1"/>
          </p:cNvSpPr>
          <p:nvPr>
            <p:ph type="sldNum" sz="quarter" idx="12"/>
          </p:nvPr>
        </p:nvSpPr>
        <p:spPr/>
        <p:txBody>
          <a:bodyPr/>
          <a:lstStyle/>
          <a:p>
            <a:fld id="{10E1FAFC-EF96-440E-AAED-57B77EC8C4A2}" type="slidenum">
              <a:rPr lang="en-US" smtClean="0"/>
              <a:t>‹#›</a:t>
            </a:fld>
            <a:endParaRPr lang="en-US"/>
          </a:p>
        </p:txBody>
      </p:sp>
    </p:spTree>
    <p:extLst>
      <p:ext uri="{BB962C8B-B14F-4D97-AF65-F5344CB8AC3E}">
        <p14:creationId xmlns:p14="http://schemas.microsoft.com/office/powerpoint/2010/main" val="308368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D1CC4-8845-1DB7-A02E-99980278F1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920AE9-967B-2CDE-707B-1B4FEF55C5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A9F42E-28C9-F81E-8527-B97CC1F44DD8}"/>
              </a:ext>
            </a:extLst>
          </p:cNvPr>
          <p:cNvSpPr>
            <a:spLocks noGrp="1"/>
          </p:cNvSpPr>
          <p:nvPr>
            <p:ph type="dt" sz="half" idx="10"/>
          </p:nvPr>
        </p:nvSpPr>
        <p:spPr/>
        <p:txBody>
          <a:bodyPr/>
          <a:lstStyle/>
          <a:p>
            <a:fld id="{8B949A4B-A073-41AD-848C-92F7D79ADE33}" type="datetimeFigureOut">
              <a:rPr lang="en-US" smtClean="0"/>
              <a:t>9/30/2026</a:t>
            </a:fld>
            <a:endParaRPr lang="en-US"/>
          </a:p>
        </p:txBody>
      </p:sp>
      <p:sp>
        <p:nvSpPr>
          <p:cNvPr id="5" name="Footer Placeholder 4">
            <a:extLst>
              <a:ext uri="{FF2B5EF4-FFF2-40B4-BE49-F238E27FC236}">
                <a16:creationId xmlns:a16="http://schemas.microsoft.com/office/drawing/2014/main" id="{2E6ACDCB-1F43-1471-B446-09FA21781F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7211E6-8C23-81B1-685D-1071BA30A3B2}"/>
              </a:ext>
            </a:extLst>
          </p:cNvPr>
          <p:cNvSpPr>
            <a:spLocks noGrp="1"/>
          </p:cNvSpPr>
          <p:nvPr>
            <p:ph type="sldNum" sz="quarter" idx="12"/>
          </p:nvPr>
        </p:nvSpPr>
        <p:spPr/>
        <p:txBody>
          <a:bodyPr/>
          <a:lstStyle/>
          <a:p>
            <a:fld id="{10E1FAFC-EF96-440E-AAED-57B77EC8C4A2}" type="slidenum">
              <a:rPr lang="en-US" smtClean="0"/>
              <a:t>‹#›</a:t>
            </a:fld>
            <a:endParaRPr lang="en-US"/>
          </a:p>
        </p:txBody>
      </p:sp>
    </p:spTree>
    <p:extLst>
      <p:ext uri="{BB962C8B-B14F-4D97-AF65-F5344CB8AC3E}">
        <p14:creationId xmlns:p14="http://schemas.microsoft.com/office/powerpoint/2010/main" val="1244977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939F9-B3E5-7280-5FDD-2100C18B9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A15A2D-568B-5ABD-289C-5DD44C4A25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BAA449E-5FD0-9124-A7C1-23A285145A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8ADD07-F804-5C4E-A69D-4B96A6C9EC93}"/>
              </a:ext>
            </a:extLst>
          </p:cNvPr>
          <p:cNvSpPr>
            <a:spLocks noGrp="1"/>
          </p:cNvSpPr>
          <p:nvPr>
            <p:ph type="dt" sz="half" idx="10"/>
          </p:nvPr>
        </p:nvSpPr>
        <p:spPr/>
        <p:txBody>
          <a:bodyPr/>
          <a:lstStyle/>
          <a:p>
            <a:fld id="{8B949A4B-A073-41AD-848C-92F7D79ADE33}" type="datetimeFigureOut">
              <a:rPr lang="en-US" smtClean="0"/>
              <a:t>9/30/2026</a:t>
            </a:fld>
            <a:endParaRPr lang="en-US"/>
          </a:p>
        </p:txBody>
      </p:sp>
      <p:sp>
        <p:nvSpPr>
          <p:cNvPr id="6" name="Footer Placeholder 5">
            <a:extLst>
              <a:ext uri="{FF2B5EF4-FFF2-40B4-BE49-F238E27FC236}">
                <a16:creationId xmlns:a16="http://schemas.microsoft.com/office/drawing/2014/main" id="{F9020E39-441B-EBBA-F218-299B9A632D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0980E8-3164-628C-096F-16A76A5A39CF}"/>
              </a:ext>
            </a:extLst>
          </p:cNvPr>
          <p:cNvSpPr>
            <a:spLocks noGrp="1"/>
          </p:cNvSpPr>
          <p:nvPr>
            <p:ph type="sldNum" sz="quarter" idx="12"/>
          </p:nvPr>
        </p:nvSpPr>
        <p:spPr/>
        <p:txBody>
          <a:bodyPr/>
          <a:lstStyle/>
          <a:p>
            <a:fld id="{10E1FAFC-EF96-440E-AAED-57B77EC8C4A2}" type="slidenum">
              <a:rPr lang="en-US" smtClean="0"/>
              <a:t>‹#›</a:t>
            </a:fld>
            <a:endParaRPr lang="en-US"/>
          </a:p>
        </p:txBody>
      </p:sp>
    </p:spTree>
    <p:extLst>
      <p:ext uri="{BB962C8B-B14F-4D97-AF65-F5344CB8AC3E}">
        <p14:creationId xmlns:p14="http://schemas.microsoft.com/office/powerpoint/2010/main" val="192664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6FBF8-1630-B36C-AF98-B1811A3EA4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224684-861B-FED8-5338-3EEAE6818F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1979BD-4D4B-ADA7-EB82-D77CA734AA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5516A4-204E-2B46-FCC4-CE60FDCD9B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A3F946-3FDB-E873-F6CF-A2067CD777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FAEE49-BA60-88CC-4224-2EFE5C74A355}"/>
              </a:ext>
            </a:extLst>
          </p:cNvPr>
          <p:cNvSpPr>
            <a:spLocks noGrp="1"/>
          </p:cNvSpPr>
          <p:nvPr>
            <p:ph type="dt" sz="half" idx="10"/>
          </p:nvPr>
        </p:nvSpPr>
        <p:spPr/>
        <p:txBody>
          <a:bodyPr/>
          <a:lstStyle/>
          <a:p>
            <a:fld id="{8B949A4B-A073-41AD-848C-92F7D79ADE33}" type="datetimeFigureOut">
              <a:rPr lang="en-US" smtClean="0"/>
              <a:t>9/30/2026</a:t>
            </a:fld>
            <a:endParaRPr lang="en-US"/>
          </a:p>
        </p:txBody>
      </p:sp>
      <p:sp>
        <p:nvSpPr>
          <p:cNvPr id="8" name="Footer Placeholder 7">
            <a:extLst>
              <a:ext uri="{FF2B5EF4-FFF2-40B4-BE49-F238E27FC236}">
                <a16:creationId xmlns:a16="http://schemas.microsoft.com/office/drawing/2014/main" id="{2AB0DC92-4E07-181B-1A2C-EA72603D2F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3D4326-DB6F-AE11-0503-4CB4F9375BA6}"/>
              </a:ext>
            </a:extLst>
          </p:cNvPr>
          <p:cNvSpPr>
            <a:spLocks noGrp="1"/>
          </p:cNvSpPr>
          <p:nvPr>
            <p:ph type="sldNum" sz="quarter" idx="12"/>
          </p:nvPr>
        </p:nvSpPr>
        <p:spPr/>
        <p:txBody>
          <a:bodyPr/>
          <a:lstStyle/>
          <a:p>
            <a:fld id="{10E1FAFC-EF96-440E-AAED-57B77EC8C4A2}" type="slidenum">
              <a:rPr lang="en-US" smtClean="0"/>
              <a:t>‹#›</a:t>
            </a:fld>
            <a:endParaRPr lang="en-US"/>
          </a:p>
        </p:txBody>
      </p:sp>
    </p:spTree>
    <p:extLst>
      <p:ext uri="{BB962C8B-B14F-4D97-AF65-F5344CB8AC3E}">
        <p14:creationId xmlns:p14="http://schemas.microsoft.com/office/powerpoint/2010/main" val="3556087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7591B-214E-FF17-552B-04F5618344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518EF3-DA71-DB83-D6AC-7EF20FF862E6}"/>
              </a:ext>
            </a:extLst>
          </p:cNvPr>
          <p:cNvSpPr>
            <a:spLocks noGrp="1"/>
          </p:cNvSpPr>
          <p:nvPr>
            <p:ph type="dt" sz="half" idx="10"/>
          </p:nvPr>
        </p:nvSpPr>
        <p:spPr/>
        <p:txBody>
          <a:bodyPr/>
          <a:lstStyle/>
          <a:p>
            <a:fld id="{8B949A4B-A073-41AD-848C-92F7D79ADE33}" type="datetimeFigureOut">
              <a:rPr lang="en-US" smtClean="0"/>
              <a:t>9/30/2026</a:t>
            </a:fld>
            <a:endParaRPr lang="en-US"/>
          </a:p>
        </p:txBody>
      </p:sp>
      <p:sp>
        <p:nvSpPr>
          <p:cNvPr id="4" name="Footer Placeholder 3">
            <a:extLst>
              <a:ext uri="{FF2B5EF4-FFF2-40B4-BE49-F238E27FC236}">
                <a16:creationId xmlns:a16="http://schemas.microsoft.com/office/drawing/2014/main" id="{6DA62C8E-D312-8CC5-FFAB-3E9846475D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1D1D8C-58CB-A6A3-05A5-E9969A9DD6AA}"/>
              </a:ext>
            </a:extLst>
          </p:cNvPr>
          <p:cNvSpPr>
            <a:spLocks noGrp="1"/>
          </p:cNvSpPr>
          <p:nvPr>
            <p:ph type="sldNum" sz="quarter" idx="12"/>
          </p:nvPr>
        </p:nvSpPr>
        <p:spPr/>
        <p:txBody>
          <a:bodyPr/>
          <a:lstStyle/>
          <a:p>
            <a:fld id="{10E1FAFC-EF96-440E-AAED-57B77EC8C4A2}" type="slidenum">
              <a:rPr lang="en-US" smtClean="0"/>
              <a:t>‹#›</a:t>
            </a:fld>
            <a:endParaRPr lang="en-US"/>
          </a:p>
        </p:txBody>
      </p:sp>
    </p:spTree>
    <p:extLst>
      <p:ext uri="{BB962C8B-B14F-4D97-AF65-F5344CB8AC3E}">
        <p14:creationId xmlns:p14="http://schemas.microsoft.com/office/powerpoint/2010/main" val="2643852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C8FB9F-5657-D441-C292-FA9713355207}"/>
              </a:ext>
            </a:extLst>
          </p:cNvPr>
          <p:cNvSpPr>
            <a:spLocks noGrp="1"/>
          </p:cNvSpPr>
          <p:nvPr>
            <p:ph type="dt" sz="half" idx="10"/>
          </p:nvPr>
        </p:nvSpPr>
        <p:spPr/>
        <p:txBody>
          <a:bodyPr/>
          <a:lstStyle/>
          <a:p>
            <a:fld id="{8B949A4B-A073-41AD-848C-92F7D79ADE33}" type="datetimeFigureOut">
              <a:rPr lang="en-US" smtClean="0"/>
              <a:t>9/30/2026</a:t>
            </a:fld>
            <a:endParaRPr lang="en-US"/>
          </a:p>
        </p:txBody>
      </p:sp>
      <p:sp>
        <p:nvSpPr>
          <p:cNvPr id="3" name="Footer Placeholder 2">
            <a:extLst>
              <a:ext uri="{FF2B5EF4-FFF2-40B4-BE49-F238E27FC236}">
                <a16:creationId xmlns:a16="http://schemas.microsoft.com/office/drawing/2014/main" id="{BD371860-492E-3449-FAB5-F3253EC74E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73975C-7E96-D94C-0B58-1E101A273878}"/>
              </a:ext>
            </a:extLst>
          </p:cNvPr>
          <p:cNvSpPr>
            <a:spLocks noGrp="1"/>
          </p:cNvSpPr>
          <p:nvPr>
            <p:ph type="sldNum" sz="quarter" idx="12"/>
          </p:nvPr>
        </p:nvSpPr>
        <p:spPr/>
        <p:txBody>
          <a:bodyPr/>
          <a:lstStyle/>
          <a:p>
            <a:fld id="{10E1FAFC-EF96-440E-AAED-57B77EC8C4A2}" type="slidenum">
              <a:rPr lang="en-US" smtClean="0"/>
              <a:t>‹#›</a:t>
            </a:fld>
            <a:endParaRPr lang="en-US"/>
          </a:p>
        </p:txBody>
      </p:sp>
    </p:spTree>
    <p:extLst>
      <p:ext uri="{BB962C8B-B14F-4D97-AF65-F5344CB8AC3E}">
        <p14:creationId xmlns:p14="http://schemas.microsoft.com/office/powerpoint/2010/main" val="2740578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34B4C-4444-2FFA-C80F-9058482602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3D9938-2CBE-1E9B-22F7-7D6081CF9F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6BB46B-883C-2B05-7703-819048FBF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152A6C-EB12-226C-00F5-2DAE7B118381}"/>
              </a:ext>
            </a:extLst>
          </p:cNvPr>
          <p:cNvSpPr>
            <a:spLocks noGrp="1"/>
          </p:cNvSpPr>
          <p:nvPr>
            <p:ph type="dt" sz="half" idx="10"/>
          </p:nvPr>
        </p:nvSpPr>
        <p:spPr/>
        <p:txBody>
          <a:bodyPr/>
          <a:lstStyle/>
          <a:p>
            <a:fld id="{8B949A4B-A073-41AD-848C-92F7D79ADE33}" type="datetimeFigureOut">
              <a:rPr lang="en-US" smtClean="0"/>
              <a:t>9/30/2026</a:t>
            </a:fld>
            <a:endParaRPr lang="en-US"/>
          </a:p>
        </p:txBody>
      </p:sp>
      <p:sp>
        <p:nvSpPr>
          <p:cNvPr id="6" name="Footer Placeholder 5">
            <a:extLst>
              <a:ext uri="{FF2B5EF4-FFF2-40B4-BE49-F238E27FC236}">
                <a16:creationId xmlns:a16="http://schemas.microsoft.com/office/drawing/2014/main" id="{32FF608F-85CF-4A5B-1DDB-506526A533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B8A1FC-2054-3149-F2DE-E6FF2F66D2D3}"/>
              </a:ext>
            </a:extLst>
          </p:cNvPr>
          <p:cNvSpPr>
            <a:spLocks noGrp="1"/>
          </p:cNvSpPr>
          <p:nvPr>
            <p:ph type="sldNum" sz="quarter" idx="12"/>
          </p:nvPr>
        </p:nvSpPr>
        <p:spPr/>
        <p:txBody>
          <a:bodyPr/>
          <a:lstStyle/>
          <a:p>
            <a:fld id="{10E1FAFC-EF96-440E-AAED-57B77EC8C4A2}" type="slidenum">
              <a:rPr lang="en-US" smtClean="0"/>
              <a:t>‹#›</a:t>
            </a:fld>
            <a:endParaRPr lang="en-US"/>
          </a:p>
        </p:txBody>
      </p:sp>
    </p:spTree>
    <p:extLst>
      <p:ext uri="{BB962C8B-B14F-4D97-AF65-F5344CB8AC3E}">
        <p14:creationId xmlns:p14="http://schemas.microsoft.com/office/powerpoint/2010/main" val="959715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93A4-45E9-2A35-172C-AEFC056BC1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F7509B-7EA0-3A21-D6B7-0432D74143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F70BF6-F125-E114-AD56-5EBD7DE06A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BE5C21-941B-A1B9-249A-3D56E35DA69F}"/>
              </a:ext>
            </a:extLst>
          </p:cNvPr>
          <p:cNvSpPr>
            <a:spLocks noGrp="1"/>
          </p:cNvSpPr>
          <p:nvPr>
            <p:ph type="dt" sz="half" idx="10"/>
          </p:nvPr>
        </p:nvSpPr>
        <p:spPr/>
        <p:txBody>
          <a:bodyPr/>
          <a:lstStyle/>
          <a:p>
            <a:fld id="{8B949A4B-A073-41AD-848C-92F7D79ADE33}" type="datetimeFigureOut">
              <a:rPr lang="en-US" smtClean="0"/>
              <a:t>9/30/2026</a:t>
            </a:fld>
            <a:endParaRPr lang="en-US"/>
          </a:p>
        </p:txBody>
      </p:sp>
      <p:sp>
        <p:nvSpPr>
          <p:cNvPr id="6" name="Footer Placeholder 5">
            <a:extLst>
              <a:ext uri="{FF2B5EF4-FFF2-40B4-BE49-F238E27FC236}">
                <a16:creationId xmlns:a16="http://schemas.microsoft.com/office/drawing/2014/main" id="{57AB975B-60A9-A4BF-3D6D-51215D15F3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2CD0D7-1147-86AE-0223-DFE0E795019A}"/>
              </a:ext>
            </a:extLst>
          </p:cNvPr>
          <p:cNvSpPr>
            <a:spLocks noGrp="1"/>
          </p:cNvSpPr>
          <p:nvPr>
            <p:ph type="sldNum" sz="quarter" idx="12"/>
          </p:nvPr>
        </p:nvSpPr>
        <p:spPr/>
        <p:txBody>
          <a:bodyPr/>
          <a:lstStyle/>
          <a:p>
            <a:fld id="{10E1FAFC-EF96-440E-AAED-57B77EC8C4A2}" type="slidenum">
              <a:rPr lang="en-US" smtClean="0"/>
              <a:t>‹#›</a:t>
            </a:fld>
            <a:endParaRPr lang="en-US"/>
          </a:p>
        </p:txBody>
      </p:sp>
    </p:spTree>
    <p:extLst>
      <p:ext uri="{BB962C8B-B14F-4D97-AF65-F5344CB8AC3E}">
        <p14:creationId xmlns:p14="http://schemas.microsoft.com/office/powerpoint/2010/main" val="1949517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09322-7F2A-F521-E110-756314E9050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86D2DF-AC1F-DBD9-D82A-178A3D4C53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1387B0-74FC-5203-16E8-71A78A92A169}"/>
              </a:ext>
            </a:extLst>
          </p:cNvPr>
          <p:cNvSpPr>
            <a:spLocks noGrp="1"/>
          </p:cNvSpPr>
          <p:nvPr>
            <p:ph type="dt" sz="half" idx="10"/>
          </p:nvPr>
        </p:nvSpPr>
        <p:spPr/>
        <p:txBody>
          <a:bodyPr/>
          <a:lstStyle/>
          <a:p>
            <a:fld id="{8B949A4B-A073-41AD-848C-92F7D79ADE33}" type="datetimeFigureOut">
              <a:rPr lang="en-US" smtClean="0"/>
              <a:t>9/30/2026</a:t>
            </a:fld>
            <a:endParaRPr lang="en-US"/>
          </a:p>
        </p:txBody>
      </p:sp>
      <p:sp>
        <p:nvSpPr>
          <p:cNvPr id="5" name="Footer Placeholder 4">
            <a:extLst>
              <a:ext uri="{FF2B5EF4-FFF2-40B4-BE49-F238E27FC236}">
                <a16:creationId xmlns:a16="http://schemas.microsoft.com/office/drawing/2014/main" id="{183C9BF0-B3C0-85A7-79F3-A8A36A9456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00B7E8-A818-29C3-0FC2-54281A211F1B}"/>
              </a:ext>
            </a:extLst>
          </p:cNvPr>
          <p:cNvSpPr>
            <a:spLocks noGrp="1"/>
          </p:cNvSpPr>
          <p:nvPr>
            <p:ph type="sldNum" sz="quarter" idx="12"/>
          </p:nvPr>
        </p:nvSpPr>
        <p:spPr/>
        <p:txBody>
          <a:bodyPr/>
          <a:lstStyle/>
          <a:p>
            <a:fld id="{10E1FAFC-EF96-440E-AAED-57B77EC8C4A2}" type="slidenum">
              <a:rPr lang="en-US" smtClean="0"/>
              <a:t>‹#›</a:t>
            </a:fld>
            <a:endParaRPr lang="en-US"/>
          </a:p>
        </p:txBody>
      </p:sp>
    </p:spTree>
    <p:extLst>
      <p:ext uri="{BB962C8B-B14F-4D97-AF65-F5344CB8AC3E}">
        <p14:creationId xmlns:p14="http://schemas.microsoft.com/office/powerpoint/2010/main" val="4176978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930F10-212F-616D-1B30-7B16C1FA08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3F381F-6246-E871-F8DC-F4157F19B3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747E5-696A-8111-9C4F-A41DEDC848E5}"/>
              </a:ext>
            </a:extLst>
          </p:cNvPr>
          <p:cNvSpPr>
            <a:spLocks noGrp="1"/>
          </p:cNvSpPr>
          <p:nvPr>
            <p:ph type="dt" sz="half" idx="10"/>
          </p:nvPr>
        </p:nvSpPr>
        <p:spPr/>
        <p:txBody>
          <a:bodyPr/>
          <a:lstStyle/>
          <a:p>
            <a:fld id="{8B949A4B-A073-41AD-848C-92F7D79ADE33}" type="datetimeFigureOut">
              <a:rPr lang="en-US" smtClean="0"/>
              <a:t>9/30/2026</a:t>
            </a:fld>
            <a:endParaRPr lang="en-US"/>
          </a:p>
        </p:txBody>
      </p:sp>
      <p:sp>
        <p:nvSpPr>
          <p:cNvPr id="5" name="Footer Placeholder 4">
            <a:extLst>
              <a:ext uri="{FF2B5EF4-FFF2-40B4-BE49-F238E27FC236}">
                <a16:creationId xmlns:a16="http://schemas.microsoft.com/office/drawing/2014/main" id="{56850C1E-F33F-899A-B234-D0E17DD637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CB46BB-6B71-3EBD-6053-A955BDA29B27}"/>
              </a:ext>
            </a:extLst>
          </p:cNvPr>
          <p:cNvSpPr>
            <a:spLocks noGrp="1"/>
          </p:cNvSpPr>
          <p:nvPr>
            <p:ph type="sldNum" sz="quarter" idx="12"/>
          </p:nvPr>
        </p:nvSpPr>
        <p:spPr/>
        <p:txBody>
          <a:bodyPr/>
          <a:lstStyle/>
          <a:p>
            <a:fld id="{10E1FAFC-EF96-440E-AAED-57B77EC8C4A2}" type="slidenum">
              <a:rPr lang="en-US" smtClean="0"/>
              <a:t>‹#›</a:t>
            </a:fld>
            <a:endParaRPr lang="en-US"/>
          </a:p>
        </p:txBody>
      </p:sp>
    </p:spTree>
    <p:extLst>
      <p:ext uri="{BB962C8B-B14F-4D97-AF65-F5344CB8AC3E}">
        <p14:creationId xmlns:p14="http://schemas.microsoft.com/office/powerpoint/2010/main" val="1561663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AA476D-6A14-545F-068E-56A9CC5CD4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BD3230-514F-67CD-0EA7-AB12FFCA91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88C3AB-D7D6-7F12-C49A-52EE20627C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949A4B-A073-41AD-848C-92F7D79ADE33}" type="datetimeFigureOut">
              <a:rPr lang="en-US" smtClean="0"/>
              <a:t>9/30/2026</a:t>
            </a:fld>
            <a:endParaRPr lang="en-US"/>
          </a:p>
        </p:txBody>
      </p:sp>
      <p:sp>
        <p:nvSpPr>
          <p:cNvPr id="5" name="Footer Placeholder 4">
            <a:extLst>
              <a:ext uri="{FF2B5EF4-FFF2-40B4-BE49-F238E27FC236}">
                <a16:creationId xmlns:a16="http://schemas.microsoft.com/office/drawing/2014/main" id="{E3AAD9BE-BDDC-A19C-BE16-71A7567143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A549C2E-895C-7AF6-9C74-69EDD9867C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E1FAFC-EF96-440E-AAED-57B77EC8C4A2}" type="slidenum">
              <a:rPr lang="en-US" smtClean="0"/>
              <a:t>‹#›</a:t>
            </a:fld>
            <a:endParaRPr lang="en-US"/>
          </a:p>
        </p:txBody>
      </p:sp>
    </p:spTree>
    <p:extLst>
      <p:ext uri="{BB962C8B-B14F-4D97-AF65-F5344CB8AC3E}">
        <p14:creationId xmlns:p14="http://schemas.microsoft.com/office/powerpoint/2010/main" val="3768242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07/relationships/media" Target="../media/media2.m4a"/><Relationship Id="rId7" Type="http://schemas.openxmlformats.org/officeDocument/2006/relationships/image" Target="../media/image1.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audio" Target="../media/media2.m4a"/></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5.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0.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22F6364A-B358-4BEE-B158-0734D2C938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38202" y="1570814"/>
            <a:ext cx="0" cy="3710227"/>
          </a:xfrm>
          <a:prstGeom prst="line">
            <a:avLst/>
          </a:prstGeom>
          <a:ln w="19050">
            <a:solidFill>
              <a:srgbClr val="396FAC"/>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EDEB7305-A1D1-34F1-5E44-F9AD951A17C3}"/>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4061860" y="2932174"/>
            <a:ext cx="7009396" cy="2200360"/>
          </a:xfrm>
          <a:prstGeom prst="rect">
            <a:avLst/>
          </a:prstGeom>
        </p:spPr>
      </p:pic>
      <p:sp>
        <p:nvSpPr>
          <p:cNvPr id="6" name="TextBox 5">
            <a:extLst>
              <a:ext uri="{FF2B5EF4-FFF2-40B4-BE49-F238E27FC236}">
                <a16:creationId xmlns:a16="http://schemas.microsoft.com/office/drawing/2014/main" id="{9B8C3937-D65C-C52E-7503-645AA1BCEDD3}"/>
              </a:ext>
            </a:extLst>
          </p:cNvPr>
          <p:cNvSpPr txBox="1"/>
          <p:nvPr/>
        </p:nvSpPr>
        <p:spPr>
          <a:xfrm>
            <a:off x="0" y="351613"/>
            <a:ext cx="12192000" cy="707886"/>
          </a:xfrm>
          <a:prstGeom prst="rect">
            <a:avLst/>
          </a:prstGeom>
          <a:noFill/>
        </p:spPr>
        <p:txBody>
          <a:bodyPr wrap="square" rtlCol="0">
            <a:spAutoFit/>
          </a:bodyPr>
          <a:lstStyle/>
          <a:p>
            <a:pPr algn="ctr"/>
            <a:r>
              <a:rPr lang="en-US" sz="4000" b="1" dirty="0">
                <a:solidFill>
                  <a:schemeClr val="accent1">
                    <a:lumMod val="75000"/>
                  </a:schemeClr>
                </a:solidFill>
              </a:rPr>
              <a:t>Forecasting Hays County Housing Market Speed</a:t>
            </a:r>
          </a:p>
        </p:txBody>
      </p:sp>
      <p:sp>
        <p:nvSpPr>
          <p:cNvPr id="7" name="TextBox 6">
            <a:extLst>
              <a:ext uri="{FF2B5EF4-FFF2-40B4-BE49-F238E27FC236}">
                <a16:creationId xmlns:a16="http://schemas.microsoft.com/office/drawing/2014/main" id="{7C823297-FABD-18DE-5AE4-57100BDE38B0}"/>
              </a:ext>
            </a:extLst>
          </p:cNvPr>
          <p:cNvSpPr txBox="1"/>
          <p:nvPr/>
        </p:nvSpPr>
        <p:spPr>
          <a:xfrm>
            <a:off x="179291" y="1059499"/>
            <a:ext cx="11761693" cy="584775"/>
          </a:xfrm>
          <a:prstGeom prst="rect">
            <a:avLst/>
          </a:prstGeom>
          <a:noFill/>
        </p:spPr>
        <p:txBody>
          <a:bodyPr wrap="square" rtlCol="0">
            <a:spAutoFit/>
          </a:bodyPr>
          <a:lstStyle/>
          <a:p>
            <a:pPr algn="ctr"/>
            <a:r>
              <a:rPr lang="en-US" sz="3200" b="1" i="1" dirty="0">
                <a:solidFill>
                  <a:schemeClr val="accent1">
                    <a:lumMod val="75000"/>
                  </a:schemeClr>
                </a:solidFill>
              </a:rPr>
              <a:t>A One-Month-Ahead Decision Support Model</a:t>
            </a:r>
          </a:p>
        </p:txBody>
      </p:sp>
      <p:sp>
        <p:nvSpPr>
          <p:cNvPr id="9" name="TextBox 8">
            <a:extLst>
              <a:ext uri="{FF2B5EF4-FFF2-40B4-BE49-F238E27FC236}">
                <a16:creationId xmlns:a16="http://schemas.microsoft.com/office/drawing/2014/main" id="{5A17DCD6-897C-9022-4C21-1E856D6146BE}"/>
              </a:ext>
            </a:extLst>
          </p:cNvPr>
          <p:cNvSpPr txBox="1"/>
          <p:nvPr/>
        </p:nvSpPr>
        <p:spPr>
          <a:xfrm>
            <a:off x="179291" y="3213492"/>
            <a:ext cx="3424989" cy="1631216"/>
          </a:xfrm>
          <a:prstGeom prst="rect">
            <a:avLst/>
          </a:prstGeom>
          <a:noFill/>
        </p:spPr>
        <p:txBody>
          <a:bodyPr wrap="square" rtlCol="0">
            <a:spAutoFit/>
          </a:bodyPr>
          <a:lstStyle/>
          <a:p>
            <a:pPr algn="ctr"/>
            <a:r>
              <a:rPr lang="en-US" sz="4000" b="1" dirty="0"/>
              <a:t>Teresa Ferrill</a:t>
            </a:r>
          </a:p>
          <a:p>
            <a:pPr algn="ctr"/>
            <a:endParaRPr lang="en-US" sz="3200" b="1" i="1" dirty="0"/>
          </a:p>
          <a:p>
            <a:pPr algn="ctr"/>
            <a:r>
              <a:rPr lang="en-US" sz="2800" b="1" dirty="0"/>
              <a:t>October 4, 2026</a:t>
            </a:r>
          </a:p>
        </p:txBody>
      </p:sp>
      <p:sp>
        <p:nvSpPr>
          <p:cNvPr id="2" name="Rectangle 1">
            <a:extLst>
              <a:ext uri="{FF2B5EF4-FFF2-40B4-BE49-F238E27FC236}">
                <a16:creationId xmlns:a16="http://schemas.microsoft.com/office/drawing/2014/main" id="{75A9E806-638E-1B06-BA61-02860EA4AB71}"/>
              </a:ext>
            </a:extLst>
          </p:cNvPr>
          <p:cNvSpPr/>
          <p:nvPr/>
        </p:nvSpPr>
        <p:spPr>
          <a:xfrm>
            <a:off x="3604280" y="1555824"/>
            <a:ext cx="267845" cy="391558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547701C0-E38B-8DCF-1CE6-AAF5A2F011D6}"/>
              </a:ext>
            </a:extLst>
          </p:cNvPr>
          <p:cNvCxnSpPr>
            <a:cxnSpLocks/>
          </p:cNvCxnSpPr>
          <p:nvPr/>
        </p:nvCxnSpPr>
        <p:spPr>
          <a:xfrm>
            <a:off x="3833070" y="1888761"/>
            <a:ext cx="0" cy="428718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27" name="Recorded Sound">
            <a:hlinkClick r:id="" action="ppaction://media"/>
            <a:extLst>
              <a:ext uri="{FF2B5EF4-FFF2-40B4-BE49-F238E27FC236}">
                <a16:creationId xmlns:a16="http://schemas.microsoft.com/office/drawing/2014/main" id="{4467DE84-28C9-18DF-CB12-99787A576397}"/>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9079254" y="5528047"/>
            <a:ext cx="609600" cy="609600"/>
          </a:xfrm>
          <a:prstGeom prst="rect">
            <a:avLst/>
          </a:prstGeom>
        </p:spPr>
      </p:pic>
      <p:pic>
        <p:nvPicPr>
          <p:cNvPr id="23" name="Audio 22">
            <a:hlinkClick r:id="" action="ppaction://media"/>
            <a:extLst>
              <a:ext uri="{FF2B5EF4-FFF2-40B4-BE49-F238E27FC236}">
                <a16:creationId xmlns:a16="http://schemas.microsoft.com/office/drawing/2014/main" id="{7A53CA56-0182-D293-6212-95DF53847BBA}"/>
              </a:ext>
            </a:extLst>
          </p:cNvPr>
          <p:cNvPicPr>
            <a:picLocks noChangeAspect="1"/>
          </p:cNvPicPr>
          <p:nvPr>
            <a:audioFile r:link="rId4"/>
            <p:extLst>
              <p:ext uri="{DAA4B4D4-6D71-4841-9C94-3DE7FCFB9230}">
                <p14:media xmlns:p14="http://schemas.microsoft.com/office/powerpoint/2010/main" r:embed="rId3"/>
              </p:ext>
            </p:extLst>
          </p:nvPr>
        </p:nvPicPr>
        <p:blipFill>
          <a:blip r:embed="rId8"/>
          <a:srcRect l="-118750" t="-118750" r="-118750" b="-118750"/>
          <a:stretch>
            <a:fillRect/>
          </a:stretch>
        </p:blipFill>
        <p:spPr>
          <a:xfrm>
            <a:off x="10052050" y="4718050"/>
            <a:ext cx="2057400" cy="2057400"/>
          </a:xfrm>
          <a:prstGeom prst="ellipse">
            <a:avLst/>
          </a:prstGeom>
        </p:spPr>
      </p:pic>
      <p:sp>
        <p:nvSpPr>
          <p:cNvPr id="47" name="Rectangle 46">
            <a:extLst>
              <a:ext uri="{FF2B5EF4-FFF2-40B4-BE49-F238E27FC236}">
                <a16:creationId xmlns:a16="http://schemas.microsoft.com/office/drawing/2014/main" id="{5806AADF-A30B-467C-F838-8B59E5C35599}"/>
              </a:ext>
            </a:extLst>
          </p:cNvPr>
          <p:cNvSpPr/>
          <p:nvPr/>
        </p:nvSpPr>
        <p:spPr>
          <a:xfrm>
            <a:off x="7615390" y="5186261"/>
            <a:ext cx="4253407" cy="13738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4088945"/>
      </p:ext>
    </p:extLst>
  </p:cSld>
  <p:clrMapOvr>
    <a:masterClrMapping/>
  </p:clrMapOvr>
  <mc:AlternateContent xmlns:mc="http://schemas.openxmlformats.org/markup-compatibility/2006" xmlns:p14="http://schemas.microsoft.com/office/powerpoint/2010/main">
    <mc:Choice Requires="p14">
      <p:transition spd="slow" p14:dur="2000" advTm="24409"/>
    </mc:Choice>
    <mc:Fallback xmlns="">
      <p:transition spd="slow" advTm="244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par>
                          <p:cTn id="7" fill="hold">
                            <p:stCondLst>
                              <p:cond delay="0"/>
                            </p:stCondLst>
                            <p:childTnLst>
                              <p:par>
                                <p:cTn id="8" presetID="1" presetClass="mediacall" presetSubtype="0" fill="hold" nodeType="afterEffect">
                                  <p:stCondLst>
                                    <p:cond delay="0"/>
                                  </p:stCondLst>
                                  <p:childTnLst>
                                    <p:cmd type="call" cmd="playFrom(0.0)">
                                      <p:cBhvr>
                                        <p:cTn id="9" dur="5779"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 fill="hold" display="0">
                  <p:stCondLst>
                    <p:cond delay="indefinite"/>
                  </p:stCondLst>
                  <p:endCondLst>
                    <p:cond evt="onStopAudio" delay="0">
                      <p:tgtEl>
                        <p:sldTgt/>
                      </p:tgtEl>
                    </p:cond>
                  </p:endCondLst>
                </p:cTn>
                <p:tgtEl>
                  <p:spTgt spid="27"/>
                </p:tgtEl>
              </p:cMediaNode>
            </p:audio>
            <p:audio isNarration="1">
              <p:cMediaNode vol="80000" showWhenStopped="0">
                <p:cTn id="11" fill="hold" display="0">
                  <p:stCondLst>
                    <p:cond delay="indefinite"/>
                  </p:stCondLst>
                  <p:endCondLst>
                    <p:cond evt="onStopAudio" delay="0">
                      <p:tgtEl>
                        <p:sldTgt/>
                      </p:tgtEl>
                    </p:cond>
                  </p:endCondLst>
                </p:cTn>
                <p:tgtEl>
                  <p:spTgt spid="23"/>
                </p:tgtEl>
              </p:cMediaNode>
            </p:audio>
          </p:childTnLst>
        </p:cTn>
      </p:par>
    </p:tnLst>
  </p:timing>
  <p:extLst>
    <p:ext uri="{E180D4A7-C9FB-4DFB-919C-405C955672EB}">
      <p14:showEvtLst xmlns:p14="http://schemas.microsoft.com/office/powerpoint/2010/main">
        <p14:playEvt time="206" objId="27"/>
        <p14:stopEvt time="6004" objId="27"/>
      </p14:showEvtLst>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443FA2-8FC7-97A1-9861-D26621D7032C}"/>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8B7B2C0-A175-9D90-9368-6A3FDE19A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FAD642ED-9016-575B-8CFA-729E3BA67E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 name="Rectangle 29">
              <a:extLst>
                <a:ext uri="{FF2B5EF4-FFF2-40B4-BE49-F238E27FC236}">
                  <a16:creationId xmlns:a16="http://schemas.microsoft.com/office/drawing/2014/main" id="{464FFBC6-9D6C-7A35-6C73-A9E61F4EC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04D1890-7BA1-ACFA-4DF7-8B6FA724C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8738F012-24C2-6D1A-5E2F-26A828A0C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937ED7-36FB-E70A-13DE-84C979539CD9}"/>
              </a:ext>
            </a:extLst>
          </p:cNvPr>
          <p:cNvSpPr>
            <a:spLocks noGrp="1"/>
          </p:cNvSpPr>
          <p:nvPr>
            <p:ph type="title"/>
          </p:nvPr>
        </p:nvSpPr>
        <p:spPr>
          <a:xfrm>
            <a:off x="811391" y="499036"/>
            <a:ext cx="5408813" cy="768104"/>
          </a:xfrm>
        </p:spPr>
        <p:txBody>
          <a:bodyPr anchor="b">
            <a:normAutofit/>
          </a:bodyPr>
          <a:lstStyle/>
          <a:p>
            <a:r>
              <a:rPr lang="en-US" sz="4000" b="1" dirty="0">
                <a:solidFill>
                  <a:schemeClr val="accent1">
                    <a:lumMod val="75000"/>
                  </a:schemeClr>
                </a:solidFill>
              </a:rPr>
              <a:t>The Business Question </a:t>
            </a:r>
          </a:p>
        </p:txBody>
      </p:sp>
      <p:sp>
        <p:nvSpPr>
          <p:cNvPr id="20" name="Rectangle 19">
            <a:extLst>
              <a:ext uri="{FF2B5EF4-FFF2-40B4-BE49-F238E27FC236}">
                <a16:creationId xmlns:a16="http://schemas.microsoft.com/office/drawing/2014/main" id="{A9246789-E8AA-C2F3-1F66-A64F25FDFA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0E84181-4082-35A5-0B13-74731846EBA2}"/>
              </a:ext>
            </a:extLst>
          </p:cNvPr>
          <p:cNvSpPr>
            <a:spLocks noGrp="1"/>
          </p:cNvSpPr>
          <p:nvPr>
            <p:ph idx="1"/>
          </p:nvPr>
        </p:nvSpPr>
        <p:spPr>
          <a:xfrm>
            <a:off x="812702" y="1757833"/>
            <a:ext cx="5332718" cy="3663004"/>
          </a:xfrm>
        </p:spPr>
        <p:txBody>
          <a:bodyPr anchor="ctr">
            <a:normAutofit/>
          </a:bodyPr>
          <a:lstStyle/>
          <a:p>
            <a:r>
              <a:rPr lang="en-US" dirty="0"/>
              <a:t>Can we anticipate next month’s market pace?</a:t>
            </a:r>
          </a:p>
          <a:p>
            <a:pPr lvl="1"/>
            <a:r>
              <a:rPr lang="en-US" sz="2000" dirty="0"/>
              <a:t>Outcome: countywide median days on market (MDOM)</a:t>
            </a:r>
          </a:p>
          <a:p>
            <a:pPr lvl="1"/>
            <a:r>
              <a:rPr lang="en-US" sz="2000" dirty="0"/>
              <a:t>Audience: real estate professionals advising buyers and sellers</a:t>
            </a:r>
          </a:p>
        </p:txBody>
      </p:sp>
      <p:sp>
        <p:nvSpPr>
          <p:cNvPr id="4" name="Rectangle 3">
            <a:extLst>
              <a:ext uri="{FF2B5EF4-FFF2-40B4-BE49-F238E27FC236}">
                <a16:creationId xmlns:a16="http://schemas.microsoft.com/office/drawing/2014/main" id="{07206A83-4CC6-D013-5F84-D28B8F056CB4}"/>
              </a:ext>
            </a:extLst>
          </p:cNvPr>
          <p:cNvSpPr/>
          <p:nvPr/>
        </p:nvSpPr>
        <p:spPr>
          <a:xfrm>
            <a:off x="5957331" y="2041588"/>
            <a:ext cx="5041025" cy="2829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9" name="Picture 8">
            <a:extLst>
              <a:ext uri="{FF2B5EF4-FFF2-40B4-BE49-F238E27FC236}">
                <a16:creationId xmlns:a16="http://schemas.microsoft.com/office/drawing/2014/main" id="{2C03A61A-CDBE-DC28-D27C-C7210B0705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542" y="1437163"/>
            <a:ext cx="5041025" cy="244203"/>
          </a:xfrm>
          <a:prstGeom prst="rect">
            <a:avLst/>
          </a:prstGeom>
        </p:spPr>
      </p:pic>
      <p:grpSp>
        <p:nvGrpSpPr>
          <p:cNvPr id="25" name="Group 24">
            <a:extLst>
              <a:ext uri="{FF2B5EF4-FFF2-40B4-BE49-F238E27FC236}">
                <a16:creationId xmlns:a16="http://schemas.microsoft.com/office/drawing/2014/main" id="{EF7989F0-B11D-9824-0C66-6A271244D9B1}"/>
              </a:ext>
            </a:extLst>
          </p:cNvPr>
          <p:cNvGrpSpPr/>
          <p:nvPr/>
        </p:nvGrpSpPr>
        <p:grpSpPr>
          <a:xfrm>
            <a:off x="6349852" y="695744"/>
            <a:ext cx="5017402" cy="5164320"/>
            <a:chOff x="6220204" y="676851"/>
            <a:chExt cx="5017402" cy="5164320"/>
          </a:xfrm>
        </p:grpSpPr>
        <p:pic>
          <p:nvPicPr>
            <p:cNvPr id="7" name="Picture 6">
              <a:extLst>
                <a:ext uri="{FF2B5EF4-FFF2-40B4-BE49-F238E27FC236}">
                  <a16:creationId xmlns:a16="http://schemas.microsoft.com/office/drawing/2014/main" id="{FE65D5BA-A0FC-94FA-1FE8-0FBCCC4C62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10285" y="1016079"/>
              <a:ext cx="2448267" cy="2333951"/>
            </a:xfrm>
            <a:prstGeom prst="rect">
              <a:avLst/>
            </a:prstGeom>
          </p:spPr>
        </p:pic>
        <p:cxnSp>
          <p:nvCxnSpPr>
            <p:cNvPr id="13" name="Straight Connector 12">
              <a:extLst>
                <a:ext uri="{FF2B5EF4-FFF2-40B4-BE49-F238E27FC236}">
                  <a16:creationId xmlns:a16="http://schemas.microsoft.com/office/drawing/2014/main" id="{90AF51FB-5B5B-A082-033E-2A5841B1A3EF}"/>
                </a:ext>
              </a:extLst>
            </p:cNvPr>
            <p:cNvCxnSpPr>
              <a:endCxn id="11" idx="1"/>
            </p:cNvCxnSpPr>
            <p:nvPr/>
          </p:nvCxnSpPr>
          <p:spPr>
            <a:xfrm>
              <a:off x="7961586" y="2324522"/>
              <a:ext cx="516257" cy="1987701"/>
            </a:xfrm>
            <a:prstGeom prst="line">
              <a:avLst/>
            </a:prstGeom>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031D882C-E874-A9BE-B199-D6BB269A440C}"/>
                </a:ext>
              </a:extLst>
            </p:cNvPr>
            <p:cNvSpPr/>
            <p:nvPr/>
          </p:nvSpPr>
          <p:spPr>
            <a:xfrm>
              <a:off x="6220204" y="1016079"/>
              <a:ext cx="231863" cy="26415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684CE5C-80CA-A656-0FF4-5EE90733375B}"/>
                </a:ext>
              </a:extLst>
            </p:cNvPr>
            <p:cNvSpPr/>
            <p:nvPr/>
          </p:nvSpPr>
          <p:spPr>
            <a:xfrm>
              <a:off x="8831121" y="676851"/>
              <a:ext cx="231863" cy="26415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3388B25-DE2B-5F46-2D07-A8499D4CB04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77843" y="2783274"/>
              <a:ext cx="2647347" cy="3057897"/>
            </a:xfrm>
            <a:prstGeom prst="rect">
              <a:avLst/>
            </a:prstGeom>
          </p:spPr>
        </p:pic>
        <p:cxnSp>
          <p:nvCxnSpPr>
            <p:cNvPr id="14" name="Straight Connector 13">
              <a:extLst>
                <a:ext uri="{FF2B5EF4-FFF2-40B4-BE49-F238E27FC236}">
                  <a16:creationId xmlns:a16="http://schemas.microsoft.com/office/drawing/2014/main" id="{EA7CCD26-7AC5-BBDC-35AD-B7944D7D01B7}"/>
                </a:ext>
              </a:extLst>
            </p:cNvPr>
            <p:cNvCxnSpPr>
              <a:cxnSpLocks/>
              <a:endCxn id="11" idx="0"/>
            </p:cNvCxnSpPr>
            <p:nvPr/>
          </p:nvCxnSpPr>
          <p:spPr>
            <a:xfrm>
              <a:off x="7977101" y="2390168"/>
              <a:ext cx="1824416" cy="393106"/>
            </a:xfrm>
            <a:prstGeom prst="line">
              <a:avLst/>
            </a:prstGeom>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E6F7E494-A959-3834-B829-F9D7C45A2869}"/>
                </a:ext>
              </a:extLst>
            </p:cNvPr>
            <p:cNvSpPr/>
            <p:nvPr/>
          </p:nvSpPr>
          <p:spPr>
            <a:xfrm>
              <a:off x="10373710" y="2459421"/>
              <a:ext cx="863896" cy="6395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itle 1">
            <a:extLst>
              <a:ext uri="{FF2B5EF4-FFF2-40B4-BE49-F238E27FC236}">
                <a16:creationId xmlns:a16="http://schemas.microsoft.com/office/drawing/2014/main" id="{693F7EAB-6291-0231-6786-6FB91F9DE838}"/>
              </a:ext>
            </a:extLst>
          </p:cNvPr>
          <p:cNvSpPr txBox="1">
            <a:spLocks/>
          </p:cNvSpPr>
          <p:nvPr/>
        </p:nvSpPr>
        <p:spPr>
          <a:xfrm>
            <a:off x="6847398" y="5036785"/>
            <a:ext cx="2647347" cy="768104"/>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accent1">
                    <a:lumMod val="75000"/>
                  </a:schemeClr>
                </a:solidFill>
              </a:rPr>
              <a:t>Hays County, </a:t>
            </a:r>
            <a:br>
              <a:rPr lang="en-US" sz="3600" b="1" dirty="0">
                <a:solidFill>
                  <a:schemeClr val="accent1">
                    <a:lumMod val="75000"/>
                  </a:schemeClr>
                </a:solidFill>
              </a:rPr>
            </a:br>
            <a:r>
              <a:rPr lang="en-US" sz="3600" b="1" dirty="0">
                <a:solidFill>
                  <a:schemeClr val="accent1">
                    <a:lumMod val="75000"/>
                  </a:schemeClr>
                </a:solidFill>
              </a:rPr>
              <a:t>Texas</a:t>
            </a:r>
          </a:p>
        </p:txBody>
      </p:sp>
      <p:pic>
        <p:nvPicPr>
          <p:cNvPr id="58" name="Audio 57">
            <a:hlinkClick r:id="" action="ppaction://media"/>
            <a:extLst>
              <a:ext uri="{FF2B5EF4-FFF2-40B4-BE49-F238E27FC236}">
                <a16:creationId xmlns:a16="http://schemas.microsoft.com/office/drawing/2014/main" id="{B3BD2568-5E80-BB6E-B13F-4A6D8AED15C0}"/>
              </a:ext>
            </a:extLst>
          </p:cNvPr>
          <p:cNvPicPr>
            <a:picLocks noChangeAspect="1"/>
          </p:cNvPicPr>
          <p:nvPr>
            <a:audioFile r:link="rId2"/>
            <p:extLst>
              <p:ext uri="{DAA4B4D4-6D71-4841-9C94-3DE7FCFB9230}">
                <p14:media xmlns:p14="http://schemas.microsoft.com/office/powerpoint/2010/main" r:embed="rId1"/>
              </p:ext>
            </p:extLst>
          </p:nvPr>
        </p:nvPicPr>
        <p:blipFill>
          <a:blip r:embed="rId8"/>
          <a:srcRect l="-118750" t="-118750" r="-118750" b="-118750"/>
          <a:stretch>
            <a:fillRect/>
          </a:stretch>
        </p:blipFill>
        <p:spPr>
          <a:xfrm>
            <a:off x="2722739" y="4532213"/>
            <a:ext cx="2057400" cy="2057400"/>
          </a:xfrm>
          <a:prstGeom prst="ellipse">
            <a:avLst/>
          </a:prstGeom>
        </p:spPr>
      </p:pic>
      <p:sp>
        <p:nvSpPr>
          <p:cNvPr id="60" name="Rectangle 59">
            <a:extLst>
              <a:ext uri="{FF2B5EF4-FFF2-40B4-BE49-F238E27FC236}">
                <a16:creationId xmlns:a16="http://schemas.microsoft.com/office/drawing/2014/main" id="{39B1F93A-4A28-BB41-3343-C3B0AC6654A6}"/>
              </a:ext>
            </a:extLst>
          </p:cNvPr>
          <p:cNvSpPr/>
          <p:nvPr/>
        </p:nvSpPr>
        <p:spPr>
          <a:xfrm>
            <a:off x="2529945" y="4925743"/>
            <a:ext cx="2496197" cy="10379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0685951"/>
      </p:ext>
    </p:extLst>
  </p:cSld>
  <p:clrMapOvr>
    <a:masterClrMapping/>
  </p:clrMapOvr>
  <mc:AlternateContent xmlns:mc="http://schemas.openxmlformats.org/markup-compatibility/2006" xmlns:p14="http://schemas.microsoft.com/office/powerpoint/2010/main">
    <mc:Choice Requires="p14">
      <p:transition spd="slow" p14:dur="2000" advTm="29697"/>
    </mc:Choice>
    <mc:Fallback xmlns="">
      <p:transition spd="slow" advTm="296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238295-6783-5D14-B3DC-2DA892BD062C}"/>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E35972BF-2A7B-8218-5212-4D0DF7F53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6C4C6A3C-687D-BEFC-6617-DFFBD560F3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 name="Rectangle 29">
              <a:extLst>
                <a:ext uri="{FF2B5EF4-FFF2-40B4-BE49-F238E27FC236}">
                  <a16:creationId xmlns:a16="http://schemas.microsoft.com/office/drawing/2014/main" id="{3B8B3D1C-CFA7-BF9E-A506-71CFB03D8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7C404B7-22BA-0EC2-30DF-8391879D16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00477AE1-95C5-356B-0AA5-49F22F2EB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47C454-3C62-0B1E-C966-7EAE9E86E12D}"/>
              </a:ext>
            </a:extLst>
          </p:cNvPr>
          <p:cNvSpPr>
            <a:spLocks noGrp="1"/>
          </p:cNvSpPr>
          <p:nvPr>
            <p:ph type="title"/>
          </p:nvPr>
        </p:nvSpPr>
        <p:spPr>
          <a:xfrm>
            <a:off x="811391" y="499036"/>
            <a:ext cx="8047796" cy="768104"/>
          </a:xfrm>
        </p:spPr>
        <p:txBody>
          <a:bodyPr anchor="b">
            <a:normAutofit/>
          </a:bodyPr>
          <a:lstStyle/>
          <a:p>
            <a:r>
              <a:rPr lang="en-US" sz="4000" b="1" dirty="0">
                <a:solidFill>
                  <a:schemeClr val="accent1">
                    <a:lumMod val="75000"/>
                  </a:schemeClr>
                </a:solidFill>
              </a:rPr>
              <a:t>Why Market Speed Matters</a:t>
            </a:r>
          </a:p>
        </p:txBody>
      </p:sp>
      <p:sp>
        <p:nvSpPr>
          <p:cNvPr id="20" name="Rectangle 19">
            <a:extLst>
              <a:ext uri="{FF2B5EF4-FFF2-40B4-BE49-F238E27FC236}">
                <a16:creationId xmlns:a16="http://schemas.microsoft.com/office/drawing/2014/main" id="{63285A4D-1F20-B981-CBD0-4E263D076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F53BD9A-0AF8-842C-FF2F-EFFB064115C0}"/>
              </a:ext>
            </a:extLst>
          </p:cNvPr>
          <p:cNvSpPr/>
          <p:nvPr/>
        </p:nvSpPr>
        <p:spPr>
          <a:xfrm>
            <a:off x="5957331" y="2026604"/>
            <a:ext cx="5041025" cy="2829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9" name="Picture 8">
            <a:extLst>
              <a:ext uri="{FF2B5EF4-FFF2-40B4-BE49-F238E27FC236}">
                <a16:creationId xmlns:a16="http://schemas.microsoft.com/office/drawing/2014/main" id="{C48A0613-AAD9-9C0B-E9A3-51266F86C0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542" y="1437163"/>
            <a:ext cx="5041025" cy="244203"/>
          </a:xfrm>
          <a:prstGeom prst="rect">
            <a:avLst/>
          </a:prstGeom>
        </p:spPr>
      </p:pic>
      <p:pic>
        <p:nvPicPr>
          <p:cNvPr id="6" name="Picture 5">
            <a:extLst>
              <a:ext uri="{FF2B5EF4-FFF2-40B4-BE49-F238E27FC236}">
                <a16:creationId xmlns:a16="http://schemas.microsoft.com/office/drawing/2014/main" id="{93B067C4-E61C-2056-856B-EC7E8DA7C51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848772" y="3069002"/>
            <a:ext cx="7217978" cy="3222649"/>
          </a:xfrm>
          <a:prstGeom prst="rect">
            <a:avLst/>
          </a:prstGeom>
          <a:ln>
            <a:solidFill>
              <a:schemeClr val="tx1"/>
            </a:solidFill>
          </a:ln>
        </p:spPr>
      </p:pic>
      <p:sp>
        <p:nvSpPr>
          <p:cNvPr id="3" name="Content Placeholder 2">
            <a:extLst>
              <a:ext uri="{FF2B5EF4-FFF2-40B4-BE49-F238E27FC236}">
                <a16:creationId xmlns:a16="http://schemas.microsoft.com/office/drawing/2014/main" id="{63179FC0-BC1B-1995-6510-06081CB85E90}"/>
              </a:ext>
            </a:extLst>
          </p:cNvPr>
          <p:cNvSpPr>
            <a:spLocks noGrp="1"/>
          </p:cNvSpPr>
          <p:nvPr>
            <p:ph idx="1"/>
          </p:nvPr>
        </p:nvSpPr>
        <p:spPr>
          <a:xfrm>
            <a:off x="812702" y="1757833"/>
            <a:ext cx="5812949" cy="2415587"/>
          </a:xfrm>
        </p:spPr>
        <p:txBody>
          <a:bodyPr anchor="t">
            <a:normAutofit/>
          </a:bodyPr>
          <a:lstStyle/>
          <a:p>
            <a:r>
              <a:rPr lang="en-US" dirty="0"/>
              <a:t>Market speed changes over time</a:t>
            </a:r>
          </a:p>
          <a:p>
            <a:pPr lvl="1"/>
            <a:r>
              <a:rPr lang="en-US" dirty="0"/>
              <a:t>January median: 77 Days</a:t>
            </a:r>
          </a:p>
          <a:p>
            <a:pPr lvl="1"/>
            <a:r>
              <a:rPr lang="en-US" dirty="0"/>
              <a:t>April median: 46.5 days</a:t>
            </a:r>
          </a:p>
        </p:txBody>
      </p:sp>
      <p:pic>
        <p:nvPicPr>
          <p:cNvPr id="23" name="Audio 22">
            <a:hlinkClick r:id="" action="ppaction://media"/>
            <a:extLst>
              <a:ext uri="{FF2B5EF4-FFF2-40B4-BE49-F238E27FC236}">
                <a16:creationId xmlns:a16="http://schemas.microsoft.com/office/drawing/2014/main" id="{B0743D0F-6FF9-D5CC-5960-0588C138FFEB}"/>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18750" t="-118750" r="-118750" b="-118750"/>
          <a:stretch>
            <a:fillRect/>
          </a:stretch>
        </p:blipFill>
        <p:spPr>
          <a:xfrm>
            <a:off x="1226661" y="3446880"/>
            <a:ext cx="2057400" cy="2057400"/>
          </a:xfrm>
          <a:prstGeom prst="ellipse">
            <a:avLst/>
          </a:prstGeom>
        </p:spPr>
      </p:pic>
      <p:sp>
        <p:nvSpPr>
          <p:cNvPr id="25" name="Rectangle 24">
            <a:extLst>
              <a:ext uri="{FF2B5EF4-FFF2-40B4-BE49-F238E27FC236}">
                <a16:creationId xmlns:a16="http://schemas.microsoft.com/office/drawing/2014/main" id="{452F75D8-D085-8CEA-4487-E55F7D9C83A5}"/>
              </a:ext>
            </a:extLst>
          </p:cNvPr>
          <p:cNvSpPr/>
          <p:nvPr/>
        </p:nvSpPr>
        <p:spPr>
          <a:xfrm>
            <a:off x="853121" y="3927294"/>
            <a:ext cx="2804480" cy="12578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5778277"/>
      </p:ext>
    </p:extLst>
  </p:cSld>
  <p:clrMapOvr>
    <a:masterClrMapping/>
  </p:clrMapOvr>
  <mc:AlternateContent xmlns:mc="http://schemas.openxmlformats.org/markup-compatibility/2006" xmlns:p14="http://schemas.microsoft.com/office/powerpoint/2010/main">
    <mc:Choice Requires="p14">
      <p:transition spd="slow" p14:dur="2000" advTm="29002"/>
    </mc:Choice>
    <mc:Fallback xmlns="">
      <p:transition spd="slow" advTm="290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5CF89B-10B2-6B75-6B3C-243017B90CE9}"/>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2B34D6D-1F7B-6748-C694-9DFD6FB26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626C40E5-CA2E-4B50-4563-1CACF876E0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 name="Rectangle 29">
              <a:extLst>
                <a:ext uri="{FF2B5EF4-FFF2-40B4-BE49-F238E27FC236}">
                  <a16:creationId xmlns:a16="http://schemas.microsoft.com/office/drawing/2014/main" id="{D1C53C34-426A-3174-2498-4B2471FC9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54791EF-2E8D-D168-4B9F-F34F3A64F2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B81AB7C-37B2-B8B9-ACFC-B6DBED1B5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A443F0-0525-81B8-225A-3DE640C759FD}"/>
              </a:ext>
            </a:extLst>
          </p:cNvPr>
          <p:cNvSpPr>
            <a:spLocks noGrp="1"/>
          </p:cNvSpPr>
          <p:nvPr>
            <p:ph type="title"/>
          </p:nvPr>
        </p:nvSpPr>
        <p:spPr>
          <a:xfrm>
            <a:off x="811391" y="499036"/>
            <a:ext cx="7866444" cy="768104"/>
          </a:xfrm>
        </p:spPr>
        <p:txBody>
          <a:bodyPr anchor="b">
            <a:normAutofit/>
          </a:bodyPr>
          <a:lstStyle/>
          <a:p>
            <a:r>
              <a:rPr lang="en-US" sz="4000" b="1" dirty="0">
                <a:solidFill>
                  <a:schemeClr val="accent1">
                    <a:lumMod val="75000"/>
                  </a:schemeClr>
                </a:solidFill>
              </a:rPr>
              <a:t>Data and Preparation</a:t>
            </a:r>
          </a:p>
        </p:txBody>
      </p:sp>
      <p:sp>
        <p:nvSpPr>
          <p:cNvPr id="20" name="Rectangle 19">
            <a:extLst>
              <a:ext uri="{FF2B5EF4-FFF2-40B4-BE49-F238E27FC236}">
                <a16:creationId xmlns:a16="http://schemas.microsoft.com/office/drawing/2014/main" id="{DAC46148-67D4-BC49-4B3D-EA91F90B90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88DB9F8-0D45-E2B9-022E-24BBAEA7AD69}"/>
              </a:ext>
            </a:extLst>
          </p:cNvPr>
          <p:cNvSpPr>
            <a:spLocks noGrp="1"/>
          </p:cNvSpPr>
          <p:nvPr>
            <p:ph idx="1"/>
          </p:nvPr>
        </p:nvSpPr>
        <p:spPr>
          <a:xfrm>
            <a:off x="812703" y="1757833"/>
            <a:ext cx="3924728" cy="2415587"/>
          </a:xfrm>
        </p:spPr>
        <p:txBody>
          <a:bodyPr anchor="ctr">
            <a:normAutofit fontScale="92500" lnSpcReduction="20000"/>
          </a:bodyPr>
          <a:lstStyle/>
          <a:p>
            <a:r>
              <a:rPr lang="en-US" dirty="0"/>
              <a:t>Two sources, one monthly dataset</a:t>
            </a:r>
          </a:p>
          <a:p>
            <a:pPr lvl="1"/>
            <a:r>
              <a:rPr lang="en-US" dirty="0"/>
              <a:t>Realtor.com: </a:t>
            </a:r>
          </a:p>
          <a:p>
            <a:pPr lvl="2"/>
            <a:r>
              <a:rPr lang="en-US" dirty="0"/>
              <a:t>Hays County listings</a:t>
            </a:r>
          </a:p>
          <a:p>
            <a:pPr lvl="1"/>
            <a:r>
              <a:rPr lang="en-US" dirty="0"/>
              <a:t>Freddie Mac: </a:t>
            </a:r>
          </a:p>
          <a:p>
            <a:pPr lvl="2"/>
            <a:r>
              <a:rPr lang="en-US" dirty="0"/>
              <a:t>30-year mortgage rates</a:t>
            </a:r>
          </a:p>
          <a:p>
            <a:pPr lvl="2"/>
            <a:r>
              <a:rPr lang="en-US" dirty="0"/>
              <a:t>July 2016 – August 2026, 122 months</a:t>
            </a:r>
          </a:p>
        </p:txBody>
      </p:sp>
      <p:sp>
        <p:nvSpPr>
          <p:cNvPr id="4" name="Rectangle 3">
            <a:extLst>
              <a:ext uri="{FF2B5EF4-FFF2-40B4-BE49-F238E27FC236}">
                <a16:creationId xmlns:a16="http://schemas.microsoft.com/office/drawing/2014/main" id="{BDF44136-A701-0D28-2E6A-33947A2619E5}"/>
              </a:ext>
            </a:extLst>
          </p:cNvPr>
          <p:cNvSpPr/>
          <p:nvPr/>
        </p:nvSpPr>
        <p:spPr>
          <a:xfrm>
            <a:off x="5957331" y="2026604"/>
            <a:ext cx="5041025" cy="2829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6" name="Picture 5">
            <a:extLst>
              <a:ext uri="{FF2B5EF4-FFF2-40B4-BE49-F238E27FC236}">
                <a16:creationId xmlns:a16="http://schemas.microsoft.com/office/drawing/2014/main" id="{5FCC6DC8-750C-8994-C145-52C367311F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37431" y="1693096"/>
            <a:ext cx="6828027" cy="4468150"/>
          </a:xfrm>
          <a:prstGeom prst="rect">
            <a:avLst/>
          </a:prstGeom>
          <a:ln>
            <a:solidFill>
              <a:schemeClr val="tx1"/>
            </a:solidFill>
          </a:ln>
        </p:spPr>
      </p:pic>
      <p:pic>
        <p:nvPicPr>
          <p:cNvPr id="9" name="Picture 8">
            <a:extLst>
              <a:ext uri="{FF2B5EF4-FFF2-40B4-BE49-F238E27FC236}">
                <a16:creationId xmlns:a16="http://schemas.microsoft.com/office/drawing/2014/main" id="{3DAC0891-F0C8-3A5B-CA21-432BD2E40D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6542" y="1437163"/>
            <a:ext cx="5041025" cy="244203"/>
          </a:xfrm>
          <a:prstGeom prst="rect">
            <a:avLst/>
          </a:prstGeom>
        </p:spPr>
      </p:pic>
      <p:pic>
        <p:nvPicPr>
          <p:cNvPr id="24" name="Audio 23">
            <a:hlinkClick r:id="" action="ppaction://media"/>
            <a:extLst>
              <a:ext uri="{FF2B5EF4-FFF2-40B4-BE49-F238E27FC236}">
                <a16:creationId xmlns:a16="http://schemas.microsoft.com/office/drawing/2014/main" id="{969A0A1E-D8F8-ADF3-40E5-DE68423AEFE7}"/>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18750" t="-118750" r="-118750" b="-118750"/>
          <a:stretch>
            <a:fillRect/>
          </a:stretch>
        </p:blipFill>
        <p:spPr>
          <a:xfrm>
            <a:off x="1432648" y="4007559"/>
            <a:ext cx="2057400" cy="2057400"/>
          </a:xfrm>
          <a:prstGeom prst="ellipse">
            <a:avLst/>
          </a:prstGeom>
        </p:spPr>
      </p:pic>
      <p:sp>
        <p:nvSpPr>
          <p:cNvPr id="26" name="Rectangle 25">
            <a:extLst>
              <a:ext uri="{FF2B5EF4-FFF2-40B4-BE49-F238E27FC236}">
                <a16:creationId xmlns:a16="http://schemas.microsoft.com/office/drawing/2014/main" id="{1FDBF0AC-7E2E-861B-9CC7-5D90EC628878}"/>
              </a:ext>
            </a:extLst>
          </p:cNvPr>
          <p:cNvSpPr/>
          <p:nvPr/>
        </p:nvSpPr>
        <p:spPr>
          <a:xfrm>
            <a:off x="1045707" y="4327135"/>
            <a:ext cx="2444341" cy="13738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2726989"/>
      </p:ext>
    </p:extLst>
  </p:cSld>
  <p:clrMapOvr>
    <a:masterClrMapping/>
  </p:clrMapOvr>
  <mc:AlternateContent xmlns:mc="http://schemas.openxmlformats.org/markup-compatibility/2006" xmlns:p14="http://schemas.microsoft.com/office/powerpoint/2010/main">
    <mc:Choice Requires="p14">
      <p:transition spd="slow" p14:dur="2000" advTm="45225"/>
    </mc:Choice>
    <mc:Fallback xmlns="">
      <p:transition spd="slow" advTm="452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C6DD87-C641-5961-B2B0-F67A9019A4E4}"/>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64F195A2-2F66-381B-1F68-60239A9C4C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118608DA-CBD4-6A65-FFDC-56E8AE829D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 name="Rectangle 29">
              <a:extLst>
                <a:ext uri="{FF2B5EF4-FFF2-40B4-BE49-F238E27FC236}">
                  <a16:creationId xmlns:a16="http://schemas.microsoft.com/office/drawing/2014/main" id="{A6D37C71-5A9F-DCD0-15B4-8012CBE6B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A9A0347-8234-6AA1-401B-23A790AB47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17932457-941E-C77C-5B4F-B7712BF5BE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52FAB1-4F68-C82D-6533-8EBA1FA69A6E}"/>
              </a:ext>
            </a:extLst>
          </p:cNvPr>
          <p:cNvSpPr>
            <a:spLocks noGrp="1"/>
          </p:cNvSpPr>
          <p:nvPr>
            <p:ph type="title"/>
          </p:nvPr>
        </p:nvSpPr>
        <p:spPr>
          <a:xfrm>
            <a:off x="811391" y="499036"/>
            <a:ext cx="7866444" cy="768104"/>
          </a:xfrm>
        </p:spPr>
        <p:txBody>
          <a:bodyPr anchor="b">
            <a:normAutofit/>
          </a:bodyPr>
          <a:lstStyle/>
          <a:p>
            <a:r>
              <a:rPr lang="en-US" sz="4000" b="1" dirty="0">
                <a:solidFill>
                  <a:schemeClr val="accent1">
                    <a:lumMod val="75000"/>
                  </a:schemeClr>
                </a:solidFill>
              </a:rPr>
              <a:t>A Fair Test of the Forecast</a:t>
            </a:r>
          </a:p>
        </p:txBody>
      </p:sp>
      <p:sp>
        <p:nvSpPr>
          <p:cNvPr id="20" name="Rectangle 19">
            <a:extLst>
              <a:ext uri="{FF2B5EF4-FFF2-40B4-BE49-F238E27FC236}">
                <a16:creationId xmlns:a16="http://schemas.microsoft.com/office/drawing/2014/main" id="{1748AABE-C857-9401-BB16-4712864D02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B7EE7FC-84E2-7BEE-A27E-0F8DF29558D4}"/>
              </a:ext>
            </a:extLst>
          </p:cNvPr>
          <p:cNvSpPr/>
          <p:nvPr/>
        </p:nvSpPr>
        <p:spPr>
          <a:xfrm>
            <a:off x="5957331" y="2026604"/>
            <a:ext cx="5041025" cy="2829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9" name="Picture 8">
            <a:extLst>
              <a:ext uri="{FF2B5EF4-FFF2-40B4-BE49-F238E27FC236}">
                <a16:creationId xmlns:a16="http://schemas.microsoft.com/office/drawing/2014/main" id="{4CD8787C-71CC-C50D-A7E7-7E2B2CA712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542" y="1437163"/>
            <a:ext cx="5041025" cy="244203"/>
          </a:xfrm>
          <a:prstGeom prst="rect">
            <a:avLst/>
          </a:prstGeom>
        </p:spPr>
      </p:pic>
      <p:sp>
        <p:nvSpPr>
          <p:cNvPr id="3" name="Content Placeholder 2">
            <a:extLst>
              <a:ext uri="{FF2B5EF4-FFF2-40B4-BE49-F238E27FC236}">
                <a16:creationId xmlns:a16="http://schemas.microsoft.com/office/drawing/2014/main" id="{80A94402-8DFB-DB36-50A9-959825A68866}"/>
              </a:ext>
            </a:extLst>
          </p:cNvPr>
          <p:cNvSpPr>
            <a:spLocks noGrp="1"/>
          </p:cNvSpPr>
          <p:nvPr>
            <p:ph idx="1"/>
          </p:nvPr>
        </p:nvSpPr>
        <p:spPr>
          <a:xfrm>
            <a:off x="812702" y="1757833"/>
            <a:ext cx="10439133" cy="1683285"/>
          </a:xfrm>
        </p:spPr>
        <p:txBody>
          <a:bodyPr anchor="t">
            <a:normAutofit/>
          </a:bodyPr>
          <a:lstStyle/>
          <a:p>
            <a:r>
              <a:rPr lang="en-US" dirty="0"/>
              <a:t>Earlier months trained the models; later months tested them</a:t>
            </a:r>
          </a:p>
          <a:p>
            <a:pPr lvl="1"/>
            <a:r>
              <a:rPr lang="en-US" dirty="0"/>
              <a:t>Training: 97 Observations</a:t>
            </a:r>
          </a:p>
          <a:p>
            <a:pPr lvl="1"/>
            <a:r>
              <a:rPr lang="en-US" dirty="0"/>
              <a:t>Test: 24 Observations</a:t>
            </a:r>
          </a:p>
          <a:p>
            <a:pPr lvl="1"/>
            <a:r>
              <a:rPr lang="en-US" dirty="0"/>
              <a:t>Compared with previous month and prior-year forecasts</a:t>
            </a:r>
          </a:p>
        </p:txBody>
      </p:sp>
      <p:sp>
        <p:nvSpPr>
          <p:cNvPr id="10" name="Rectangle 9">
            <a:extLst>
              <a:ext uri="{FF2B5EF4-FFF2-40B4-BE49-F238E27FC236}">
                <a16:creationId xmlns:a16="http://schemas.microsoft.com/office/drawing/2014/main" id="{6CC6362E-2698-F154-B471-36805594AF9D}"/>
              </a:ext>
            </a:extLst>
          </p:cNvPr>
          <p:cNvSpPr/>
          <p:nvPr/>
        </p:nvSpPr>
        <p:spPr>
          <a:xfrm>
            <a:off x="853119" y="3632181"/>
            <a:ext cx="6873872" cy="13765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Training – 97 Observations </a:t>
            </a:r>
            <a:br>
              <a:rPr lang="en-US" dirty="0"/>
            </a:br>
            <a:r>
              <a:rPr lang="en-US" i="1" dirty="0"/>
              <a:t>Aug 2016 – Aug 2024</a:t>
            </a:r>
            <a:r>
              <a:rPr lang="en-US" dirty="0"/>
              <a:t> </a:t>
            </a:r>
          </a:p>
        </p:txBody>
      </p:sp>
      <p:sp>
        <p:nvSpPr>
          <p:cNvPr id="15" name="Rectangle 14">
            <a:extLst>
              <a:ext uri="{FF2B5EF4-FFF2-40B4-BE49-F238E27FC236}">
                <a16:creationId xmlns:a16="http://schemas.microsoft.com/office/drawing/2014/main" id="{E7E8DFF2-47BD-A7EB-B2F8-12E8ACECDD1A}"/>
              </a:ext>
            </a:extLst>
          </p:cNvPr>
          <p:cNvSpPr/>
          <p:nvPr/>
        </p:nvSpPr>
        <p:spPr>
          <a:xfrm>
            <a:off x="7893488" y="3632181"/>
            <a:ext cx="2076063" cy="1376548"/>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Testing – 24 Observations </a:t>
            </a:r>
            <a:br>
              <a:rPr lang="en-US" dirty="0"/>
            </a:br>
            <a:r>
              <a:rPr lang="en-US" i="1" dirty="0"/>
              <a:t>Sep 2024 – Aug 2026</a:t>
            </a:r>
            <a:endParaRPr lang="en-US" dirty="0"/>
          </a:p>
        </p:txBody>
      </p:sp>
      <p:sp>
        <p:nvSpPr>
          <p:cNvPr id="19" name="Rectangle 18">
            <a:extLst>
              <a:ext uri="{FF2B5EF4-FFF2-40B4-BE49-F238E27FC236}">
                <a16:creationId xmlns:a16="http://schemas.microsoft.com/office/drawing/2014/main" id="{569CE937-2F8D-F602-312A-569A61563C4F}"/>
              </a:ext>
            </a:extLst>
          </p:cNvPr>
          <p:cNvSpPr/>
          <p:nvPr/>
        </p:nvSpPr>
        <p:spPr>
          <a:xfrm>
            <a:off x="10136048" y="3632181"/>
            <a:ext cx="1202833" cy="1376548"/>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Forecast</a:t>
            </a:r>
          </a:p>
          <a:p>
            <a:pPr algn="ctr"/>
            <a:r>
              <a:rPr lang="en-US" dirty="0"/>
              <a:t>Sep 2026</a:t>
            </a:r>
          </a:p>
        </p:txBody>
      </p:sp>
      <p:sp>
        <p:nvSpPr>
          <p:cNvPr id="21" name="TextBox 20">
            <a:extLst>
              <a:ext uri="{FF2B5EF4-FFF2-40B4-BE49-F238E27FC236}">
                <a16:creationId xmlns:a16="http://schemas.microsoft.com/office/drawing/2014/main" id="{EBA3296D-F1EE-ADC1-BD62-260AB11B066E}"/>
              </a:ext>
            </a:extLst>
          </p:cNvPr>
          <p:cNvSpPr txBox="1"/>
          <p:nvPr/>
        </p:nvSpPr>
        <p:spPr>
          <a:xfrm>
            <a:off x="811391" y="5027589"/>
            <a:ext cx="10527489" cy="400110"/>
          </a:xfrm>
          <a:prstGeom prst="rect">
            <a:avLst/>
          </a:prstGeom>
          <a:noFill/>
        </p:spPr>
        <p:txBody>
          <a:bodyPr wrap="square" rtlCol="0">
            <a:spAutoFit/>
          </a:bodyPr>
          <a:lstStyle/>
          <a:p>
            <a:pPr algn="ctr"/>
            <a:r>
              <a:rPr lang="en-US" sz="2000" b="1" dirty="0"/>
              <a:t>Model tuning used time-series cross-validation within the training period</a:t>
            </a:r>
          </a:p>
        </p:txBody>
      </p:sp>
      <p:sp>
        <p:nvSpPr>
          <p:cNvPr id="23" name="TextBox 22">
            <a:extLst>
              <a:ext uri="{FF2B5EF4-FFF2-40B4-BE49-F238E27FC236}">
                <a16:creationId xmlns:a16="http://schemas.microsoft.com/office/drawing/2014/main" id="{8D4CDF25-72AB-4985-22BA-0B71A40EC4DA}"/>
              </a:ext>
            </a:extLst>
          </p:cNvPr>
          <p:cNvSpPr txBox="1"/>
          <p:nvPr/>
        </p:nvSpPr>
        <p:spPr>
          <a:xfrm>
            <a:off x="845486" y="5750432"/>
            <a:ext cx="10501026" cy="461665"/>
          </a:xfrm>
          <a:prstGeom prst="rect">
            <a:avLst/>
          </a:prstGeom>
          <a:solidFill>
            <a:srgbClr val="FFFF00"/>
          </a:solidFill>
        </p:spPr>
        <p:txBody>
          <a:bodyPr wrap="square" rtlCol="0">
            <a:spAutoFit/>
          </a:bodyPr>
          <a:lstStyle/>
          <a:p>
            <a:pPr algn="ctr"/>
            <a:r>
              <a:rPr lang="en-US" sz="2400" b="1" i="1" dirty="0"/>
              <a:t>The final 24 months were held back to test predictions on later data</a:t>
            </a:r>
          </a:p>
        </p:txBody>
      </p:sp>
      <p:pic>
        <p:nvPicPr>
          <p:cNvPr id="47" name="Audio 46">
            <a:hlinkClick r:id="" action="ppaction://media"/>
            <a:extLst>
              <a:ext uri="{FF2B5EF4-FFF2-40B4-BE49-F238E27FC236}">
                <a16:creationId xmlns:a16="http://schemas.microsoft.com/office/drawing/2014/main" id="{1AA2397A-86C8-04BB-DCF3-6713FFE523DC}"/>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7449143" y="253726"/>
            <a:ext cx="2057400" cy="2057400"/>
          </a:xfrm>
          <a:prstGeom prst="ellipse">
            <a:avLst/>
          </a:prstGeom>
        </p:spPr>
      </p:pic>
      <p:sp>
        <p:nvSpPr>
          <p:cNvPr id="41" name="Rectangle 40">
            <a:extLst>
              <a:ext uri="{FF2B5EF4-FFF2-40B4-BE49-F238E27FC236}">
                <a16:creationId xmlns:a16="http://schemas.microsoft.com/office/drawing/2014/main" id="{A6F8819D-EE47-67EF-69C9-5332CEFA0BFE}"/>
              </a:ext>
            </a:extLst>
          </p:cNvPr>
          <p:cNvSpPr/>
          <p:nvPr/>
        </p:nvSpPr>
        <p:spPr>
          <a:xfrm>
            <a:off x="7023985" y="645903"/>
            <a:ext cx="3028320" cy="10579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8140863"/>
      </p:ext>
    </p:extLst>
  </p:cSld>
  <p:clrMapOvr>
    <a:masterClrMapping/>
  </p:clrMapOvr>
  <mc:AlternateContent xmlns:mc="http://schemas.openxmlformats.org/markup-compatibility/2006" xmlns:p14="http://schemas.microsoft.com/office/powerpoint/2010/main">
    <mc:Choice Requires="p14">
      <p:transition spd="slow" p14:dur="2000" advTm="38912"/>
    </mc:Choice>
    <mc:Fallback xmlns="">
      <p:transition spd="slow" advTm="389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7"/>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2EB43C-B779-8B61-B5D7-7BC880ED30A6}"/>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D85B38E4-E039-C3C6-E4EB-9E93E0DA5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C6C48986-6EF0-4058-8CCB-B7DB02228C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 name="Rectangle 29">
              <a:extLst>
                <a:ext uri="{FF2B5EF4-FFF2-40B4-BE49-F238E27FC236}">
                  <a16:creationId xmlns:a16="http://schemas.microsoft.com/office/drawing/2014/main" id="{7B38E0C4-6D23-1AE9-3538-19BCAC1C47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A5DE901-9DB0-788F-4B14-143717241B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753D4E95-052A-CF1B-721C-AE66E4827F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2C194F-6A23-EE2A-1EA6-08FFEE174956}"/>
              </a:ext>
            </a:extLst>
          </p:cNvPr>
          <p:cNvSpPr>
            <a:spLocks noGrp="1"/>
          </p:cNvSpPr>
          <p:nvPr>
            <p:ph type="title"/>
          </p:nvPr>
        </p:nvSpPr>
        <p:spPr>
          <a:xfrm>
            <a:off x="811391" y="499036"/>
            <a:ext cx="7866444" cy="768104"/>
          </a:xfrm>
        </p:spPr>
        <p:txBody>
          <a:bodyPr anchor="b">
            <a:normAutofit/>
          </a:bodyPr>
          <a:lstStyle/>
          <a:p>
            <a:r>
              <a:rPr lang="en-US" sz="4000" b="1" dirty="0">
                <a:solidFill>
                  <a:schemeClr val="accent1">
                    <a:lumMod val="75000"/>
                  </a:schemeClr>
                </a:solidFill>
              </a:rPr>
              <a:t>Which Approach Worked Best</a:t>
            </a:r>
          </a:p>
        </p:txBody>
      </p:sp>
      <p:sp>
        <p:nvSpPr>
          <p:cNvPr id="20" name="Rectangle 19">
            <a:extLst>
              <a:ext uri="{FF2B5EF4-FFF2-40B4-BE49-F238E27FC236}">
                <a16:creationId xmlns:a16="http://schemas.microsoft.com/office/drawing/2014/main" id="{8C8E11FD-ED37-D176-C021-B44A46E8F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A11A644-64FB-4C75-D563-0559F5C5F761}"/>
              </a:ext>
            </a:extLst>
          </p:cNvPr>
          <p:cNvSpPr/>
          <p:nvPr/>
        </p:nvSpPr>
        <p:spPr>
          <a:xfrm>
            <a:off x="5957331" y="2026604"/>
            <a:ext cx="5041025" cy="2829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9" name="Picture 8">
            <a:extLst>
              <a:ext uri="{FF2B5EF4-FFF2-40B4-BE49-F238E27FC236}">
                <a16:creationId xmlns:a16="http://schemas.microsoft.com/office/drawing/2014/main" id="{1FA9A2E3-1DA9-0F32-F898-A6F10A1DB1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542" y="1437163"/>
            <a:ext cx="5041025" cy="244203"/>
          </a:xfrm>
          <a:prstGeom prst="rect">
            <a:avLst/>
          </a:prstGeom>
        </p:spPr>
      </p:pic>
      <p:pic>
        <p:nvPicPr>
          <p:cNvPr id="6" name="Picture 5">
            <a:extLst>
              <a:ext uri="{FF2B5EF4-FFF2-40B4-BE49-F238E27FC236}">
                <a16:creationId xmlns:a16="http://schemas.microsoft.com/office/drawing/2014/main" id="{6E63728C-C63B-0DB3-3E34-CB972DA073EB}"/>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687461" y="2093229"/>
            <a:ext cx="7861948" cy="4145391"/>
          </a:xfrm>
          <a:prstGeom prst="rect">
            <a:avLst/>
          </a:prstGeom>
        </p:spPr>
      </p:pic>
      <p:sp>
        <p:nvSpPr>
          <p:cNvPr id="3" name="Content Placeholder 2">
            <a:extLst>
              <a:ext uri="{FF2B5EF4-FFF2-40B4-BE49-F238E27FC236}">
                <a16:creationId xmlns:a16="http://schemas.microsoft.com/office/drawing/2014/main" id="{295E3B00-5C4D-AFCA-F043-A04A7ED947F9}"/>
              </a:ext>
            </a:extLst>
          </p:cNvPr>
          <p:cNvSpPr>
            <a:spLocks noGrp="1"/>
          </p:cNvSpPr>
          <p:nvPr>
            <p:ph idx="1"/>
          </p:nvPr>
        </p:nvSpPr>
        <p:spPr>
          <a:xfrm>
            <a:off x="812702" y="1757833"/>
            <a:ext cx="5919173" cy="2415587"/>
          </a:xfrm>
        </p:spPr>
        <p:txBody>
          <a:bodyPr anchor="t">
            <a:normAutofit/>
          </a:bodyPr>
          <a:lstStyle/>
          <a:p>
            <a:r>
              <a:rPr lang="en-US" dirty="0"/>
              <a:t>Ridge had the lowest average error</a:t>
            </a:r>
          </a:p>
          <a:p>
            <a:pPr lvl="1"/>
            <a:r>
              <a:rPr lang="en-US" dirty="0"/>
              <a:t>Ridge: 4.64 days</a:t>
            </a:r>
          </a:p>
          <a:p>
            <a:pPr lvl="1"/>
            <a:r>
              <a:rPr lang="en-US" dirty="0"/>
              <a:t>Previous-month </a:t>
            </a:r>
            <a:br>
              <a:rPr lang="en-US" dirty="0"/>
            </a:br>
            <a:r>
              <a:rPr lang="en-US" dirty="0"/>
              <a:t>baseline: 7.21 days</a:t>
            </a:r>
          </a:p>
          <a:p>
            <a:pPr lvl="1"/>
            <a:r>
              <a:rPr lang="en-US" dirty="0"/>
              <a:t>35.7 % lower </a:t>
            </a:r>
            <a:br>
              <a:rPr lang="en-US" dirty="0"/>
            </a:br>
            <a:r>
              <a:rPr lang="en-US" dirty="0"/>
              <a:t>average error</a:t>
            </a:r>
          </a:p>
        </p:txBody>
      </p:sp>
      <p:pic>
        <p:nvPicPr>
          <p:cNvPr id="60" name="Audio 59">
            <a:hlinkClick r:id="" action="ppaction://media"/>
            <a:extLst>
              <a:ext uri="{FF2B5EF4-FFF2-40B4-BE49-F238E27FC236}">
                <a16:creationId xmlns:a16="http://schemas.microsoft.com/office/drawing/2014/main" id="{A0AB14A3-DEA0-E278-03C6-296258CB72D4}"/>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18750" t="-118750" r="-118750" b="-118750"/>
          <a:stretch>
            <a:fillRect/>
          </a:stretch>
        </p:blipFill>
        <p:spPr>
          <a:xfrm>
            <a:off x="1241430" y="3741699"/>
            <a:ext cx="2057400" cy="2057400"/>
          </a:xfrm>
          <a:prstGeom prst="ellipse">
            <a:avLst/>
          </a:prstGeom>
        </p:spPr>
      </p:pic>
      <p:sp>
        <p:nvSpPr>
          <p:cNvPr id="27" name="Rectangle 26">
            <a:extLst>
              <a:ext uri="{FF2B5EF4-FFF2-40B4-BE49-F238E27FC236}">
                <a16:creationId xmlns:a16="http://schemas.microsoft.com/office/drawing/2014/main" id="{6BEB00A0-0076-4470-6DCA-92F2281A1CCA}"/>
              </a:ext>
            </a:extLst>
          </p:cNvPr>
          <p:cNvSpPr/>
          <p:nvPr/>
        </p:nvSpPr>
        <p:spPr>
          <a:xfrm>
            <a:off x="1060016" y="4165924"/>
            <a:ext cx="2355538" cy="125491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5223511"/>
      </p:ext>
    </p:extLst>
  </p:cSld>
  <p:clrMapOvr>
    <a:masterClrMapping/>
  </p:clrMapOvr>
  <mc:AlternateContent xmlns:mc="http://schemas.openxmlformats.org/markup-compatibility/2006" xmlns:p14="http://schemas.microsoft.com/office/powerpoint/2010/main">
    <mc:Choice Requires="p14">
      <p:transition spd="slow" p14:dur="2000" advTm="44312"/>
    </mc:Choice>
    <mc:Fallback xmlns="">
      <p:transition spd="slow" advTm="443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D28F11-A42D-8D4E-EB05-A9C1E8A9BC6F}"/>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F32853A1-D0CD-3712-F809-2B2B2624F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5055AE96-F2C5-7F48-9090-D6446887B7E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 name="Rectangle 29">
              <a:extLst>
                <a:ext uri="{FF2B5EF4-FFF2-40B4-BE49-F238E27FC236}">
                  <a16:creationId xmlns:a16="http://schemas.microsoft.com/office/drawing/2014/main" id="{A529B9CA-84A4-53DD-A805-098F866D22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62A755-6624-1F29-7B35-C1DE84ABF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77E29F72-ABC7-3958-ED6B-EF86209C9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45AC92-30E3-00E3-8809-9D57023E6DB5}"/>
              </a:ext>
            </a:extLst>
          </p:cNvPr>
          <p:cNvSpPr>
            <a:spLocks noGrp="1"/>
          </p:cNvSpPr>
          <p:nvPr>
            <p:ph type="title"/>
          </p:nvPr>
        </p:nvSpPr>
        <p:spPr>
          <a:xfrm>
            <a:off x="811390" y="499036"/>
            <a:ext cx="10186965" cy="768104"/>
          </a:xfrm>
        </p:spPr>
        <p:txBody>
          <a:bodyPr anchor="b">
            <a:normAutofit/>
          </a:bodyPr>
          <a:lstStyle/>
          <a:p>
            <a:r>
              <a:rPr lang="en-US" sz="4000" b="1" dirty="0">
                <a:solidFill>
                  <a:schemeClr val="accent1">
                    <a:lumMod val="75000"/>
                  </a:schemeClr>
                </a:solidFill>
              </a:rPr>
              <a:t>What did the Predictions Look Like</a:t>
            </a:r>
          </a:p>
        </p:txBody>
      </p:sp>
      <p:sp>
        <p:nvSpPr>
          <p:cNvPr id="20" name="Rectangle 19">
            <a:extLst>
              <a:ext uri="{FF2B5EF4-FFF2-40B4-BE49-F238E27FC236}">
                <a16:creationId xmlns:a16="http://schemas.microsoft.com/office/drawing/2014/main" id="{6E94EFDF-DDEC-0CBB-D754-2801CA02F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9A7B8DF-FFCE-3146-6389-87627E6D70E9}"/>
              </a:ext>
            </a:extLst>
          </p:cNvPr>
          <p:cNvSpPr/>
          <p:nvPr/>
        </p:nvSpPr>
        <p:spPr>
          <a:xfrm>
            <a:off x="5957331" y="2026604"/>
            <a:ext cx="5041025" cy="2829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9" name="Picture 8">
            <a:extLst>
              <a:ext uri="{FF2B5EF4-FFF2-40B4-BE49-F238E27FC236}">
                <a16:creationId xmlns:a16="http://schemas.microsoft.com/office/drawing/2014/main" id="{E5FEFA6B-DFD2-6704-88E6-642539F977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542" y="1437163"/>
            <a:ext cx="5041025" cy="244203"/>
          </a:xfrm>
          <a:prstGeom prst="rect">
            <a:avLst/>
          </a:prstGeom>
        </p:spPr>
      </p:pic>
      <p:pic>
        <p:nvPicPr>
          <p:cNvPr id="6" name="Picture 5">
            <a:extLst>
              <a:ext uri="{FF2B5EF4-FFF2-40B4-BE49-F238E27FC236}">
                <a16:creationId xmlns:a16="http://schemas.microsoft.com/office/drawing/2014/main" id="{086E7EDA-7DF5-EF61-9CCD-E8094278A6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51825" y="2141208"/>
            <a:ext cx="7388601" cy="3863505"/>
          </a:xfrm>
          <a:prstGeom prst="rect">
            <a:avLst/>
          </a:prstGeom>
        </p:spPr>
      </p:pic>
      <p:sp>
        <p:nvSpPr>
          <p:cNvPr id="3" name="Content Placeholder 2">
            <a:extLst>
              <a:ext uri="{FF2B5EF4-FFF2-40B4-BE49-F238E27FC236}">
                <a16:creationId xmlns:a16="http://schemas.microsoft.com/office/drawing/2014/main" id="{ED7EEBC0-E505-7F35-85DD-2F6934B4A47B}"/>
              </a:ext>
            </a:extLst>
          </p:cNvPr>
          <p:cNvSpPr>
            <a:spLocks noGrp="1"/>
          </p:cNvSpPr>
          <p:nvPr>
            <p:ph idx="1"/>
          </p:nvPr>
        </p:nvSpPr>
        <p:spPr>
          <a:xfrm>
            <a:off x="812703" y="1757833"/>
            <a:ext cx="3901187" cy="2415587"/>
          </a:xfrm>
        </p:spPr>
        <p:txBody>
          <a:bodyPr anchor="t">
            <a:normAutofit fontScale="92500" lnSpcReduction="10000"/>
          </a:bodyPr>
          <a:lstStyle/>
          <a:p>
            <a:r>
              <a:rPr lang="en-US" dirty="0"/>
              <a:t>Ridge generally followed the observed changes</a:t>
            </a:r>
          </a:p>
          <a:p>
            <a:pPr lvl="1"/>
            <a:r>
              <a:rPr lang="en-US" dirty="0"/>
              <a:t>Test period: </a:t>
            </a:r>
            <a:br>
              <a:rPr lang="en-US" dirty="0"/>
            </a:br>
            <a:r>
              <a:rPr lang="en-US" dirty="0"/>
              <a:t>Sep 2024 – Aug 2026</a:t>
            </a:r>
          </a:p>
          <a:p>
            <a:pPr lvl="1"/>
            <a:r>
              <a:rPr lang="en-US" dirty="0"/>
              <a:t>Largest miss: </a:t>
            </a:r>
            <a:br>
              <a:rPr lang="en-US" dirty="0"/>
            </a:br>
            <a:r>
              <a:rPr lang="en-US" dirty="0"/>
              <a:t>about 14.7 days </a:t>
            </a:r>
            <a:br>
              <a:rPr lang="en-US" dirty="0"/>
            </a:br>
            <a:r>
              <a:rPr lang="en-US" dirty="0"/>
              <a:t>(Mar 2025)</a:t>
            </a:r>
          </a:p>
        </p:txBody>
      </p:sp>
      <p:pic>
        <p:nvPicPr>
          <p:cNvPr id="33" name="Audio 32">
            <a:hlinkClick r:id="" action="ppaction://media"/>
            <a:extLst>
              <a:ext uri="{FF2B5EF4-FFF2-40B4-BE49-F238E27FC236}">
                <a16:creationId xmlns:a16="http://schemas.microsoft.com/office/drawing/2014/main" id="{6E87E04E-D8AC-6F06-4F7B-37E3C5D29F7D}"/>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18750" t="-118750" r="-118750" b="-118750"/>
          <a:stretch>
            <a:fillRect/>
          </a:stretch>
        </p:blipFill>
        <p:spPr>
          <a:xfrm>
            <a:off x="1286977" y="3723126"/>
            <a:ext cx="2057400" cy="2057400"/>
          </a:xfrm>
          <a:prstGeom prst="ellipse">
            <a:avLst/>
          </a:prstGeom>
        </p:spPr>
      </p:pic>
      <p:sp>
        <p:nvSpPr>
          <p:cNvPr id="24" name="Rectangle 23">
            <a:extLst>
              <a:ext uri="{FF2B5EF4-FFF2-40B4-BE49-F238E27FC236}">
                <a16:creationId xmlns:a16="http://schemas.microsoft.com/office/drawing/2014/main" id="{4545712E-3810-9393-87AB-04B4A2301C8E}"/>
              </a:ext>
            </a:extLst>
          </p:cNvPr>
          <p:cNvSpPr/>
          <p:nvPr/>
        </p:nvSpPr>
        <p:spPr>
          <a:xfrm>
            <a:off x="1142396" y="4173420"/>
            <a:ext cx="2159785" cy="13738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0354623"/>
      </p:ext>
    </p:extLst>
  </p:cSld>
  <p:clrMapOvr>
    <a:masterClrMapping/>
  </p:clrMapOvr>
  <mc:AlternateContent xmlns:mc="http://schemas.openxmlformats.org/markup-compatibility/2006" xmlns:p14="http://schemas.microsoft.com/office/powerpoint/2010/main">
    <mc:Choice Requires="p14">
      <p:transition spd="slow" p14:dur="2000" advTm="36077"/>
    </mc:Choice>
    <mc:Fallback xmlns="">
      <p:transition spd="slow" advTm="360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9BA580-8FD9-1FF2-5458-ED62FBC97097}"/>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8744631-050F-D949-500E-60A81215C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455F36DA-34A2-E8E0-6630-3E1009DA9E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 name="Rectangle 29">
              <a:extLst>
                <a:ext uri="{FF2B5EF4-FFF2-40B4-BE49-F238E27FC236}">
                  <a16:creationId xmlns:a16="http://schemas.microsoft.com/office/drawing/2014/main" id="{7922ABEA-6A60-7404-4608-F4CB98D196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9B8F0B9-C098-CD85-8380-8A9C372471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B2CB35B9-F222-7007-7865-232DC45C6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CD4188-6F70-5B6B-E74A-56D324ED4973}"/>
              </a:ext>
            </a:extLst>
          </p:cNvPr>
          <p:cNvSpPr>
            <a:spLocks noGrp="1"/>
          </p:cNvSpPr>
          <p:nvPr>
            <p:ph type="title"/>
          </p:nvPr>
        </p:nvSpPr>
        <p:spPr>
          <a:xfrm>
            <a:off x="811391" y="499036"/>
            <a:ext cx="7866444" cy="768104"/>
          </a:xfrm>
        </p:spPr>
        <p:txBody>
          <a:bodyPr anchor="b">
            <a:normAutofit/>
          </a:bodyPr>
          <a:lstStyle/>
          <a:p>
            <a:r>
              <a:rPr lang="en-US" sz="4000" b="1" dirty="0">
                <a:solidFill>
                  <a:schemeClr val="accent1">
                    <a:lumMod val="75000"/>
                  </a:schemeClr>
                </a:solidFill>
              </a:rPr>
              <a:t>September 2026 Estimate</a:t>
            </a:r>
          </a:p>
        </p:txBody>
      </p:sp>
      <p:sp>
        <p:nvSpPr>
          <p:cNvPr id="20" name="Rectangle 19">
            <a:extLst>
              <a:ext uri="{FF2B5EF4-FFF2-40B4-BE49-F238E27FC236}">
                <a16:creationId xmlns:a16="http://schemas.microsoft.com/office/drawing/2014/main" id="{8D377CE4-F0DF-605E-D76C-7647BC12B1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0B98469-2944-B09C-9973-50D5E97D2437}"/>
              </a:ext>
            </a:extLst>
          </p:cNvPr>
          <p:cNvSpPr>
            <a:spLocks noGrp="1"/>
          </p:cNvSpPr>
          <p:nvPr>
            <p:ph idx="1"/>
          </p:nvPr>
        </p:nvSpPr>
        <p:spPr>
          <a:xfrm>
            <a:off x="812703" y="1757833"/>
            <a:ext cx="6329076" cy="551705"/>
          </a:xfrm>
        </p:spPr>
        <p:txBody>
          <a:bodyPr anchor="t">
            <a:normAutofit/>
          </a:bodyPr>
          <a:lstStyle/>
          <a:p>
            <a:r>
              <a:rPr lang="en-US" dirty="0"/>
              <a:t>September Forecast: 82.5 days</a:t>
            </a:r>
          </a:p>
        </p:txBody>
      </p:sp>
      <p:sp>
        <p:nvSpPr>
          <p:cNvPr id="4" name="Rectangle 3">
            <a:extLst>
              <a:ext uri="{FF2B5EF4-FFF2-40B4-BE49-F238E27FC236}">
                <a16:creationId xmlns:a16="http://schemas.microsoft.com/office/drawing/2014/main" id="{053B0760-EE7F-DC15-5601-9E83D6543D94}"/>
              </a:ext>
            </a:extLst>
          </p:cNvPr>
          <p:cNvSpPr/>
          <p:nvPr/>
        </p:nvSpPr>
        <p:spPr>
          <a:xfrm>
            <a:off x="5957331" y="2026604"/>
            <a:ext cx="5041025" cy="2829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9" name="Picture 8">
            <a:extLst>
              <a:ext uri="{FF2B5EF4-FFF2-40B4-BE49-F238E27FC236}">
                <a16:creationId xmlns:a16="http://schemas.microsoft.com/office/drawing/2014/main" id="{7375BA82-19C8-D38D-373B-18699B45A1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542" y="1437163"/>
            <a:ext cx="5041025" cy="244203"/>
          </a:xfrm>
          <a:prstGeom prst="rect">
            <a:avLst/>
          </a:prstGeom>
        </p:spPr>
      </p:pic>
      <p:sp>
        <p:nvSpPr>
          <p:cNvPr id="7" name="TextBox 6">
            <a:extLst>
              <a:ext uri="{FF2B5EF4-FFF2-40B4-BE49-F238E27FC236}">
                <a16:creationId xmlns:a16="http://schemas.microsoft.com/office/drawing/2014/main" id="{3A8EACE3-8A01-C741-A836-449AD5159181}"/>
              </a:ext>
            </a:extLst>
          </p:cNvPr>
          <p:cNvSpPr txBox="1"/>
          <p:nvPr/>
        </p:nvSpPr>
        <p:spPr>
          <a:xfrm>
            <a:off x="845486" y="5750432"/>
            <a:ext cx="10501026" cy="461665"/>
          </a:xfrm>
          <a:prstGeom prst="rect">
            <a:avLst/>
          </a:prstGeom>
          <a:solidFill>
            <a:srgbClr val="FFFF00"/>
          </a:solidFill>
        </p:spPr>
        <p:txBody>
          <a:bodyPr wrap="square" rtlCol="0">
            <a:spAutoFit/>
          </a:bodyPr>
          <a:lstStyle/>
          <a:p>
            <a:pPr algn="ctr"/>
            <a:r>
              <a:rPr lang="en-US" sz="2400" b="1" i="1" dirty="0"/>
              <a:t>Countywide estimate; test-period average error: 4.64 days</a:t>
            </a:r>
          </a:p>
        </p:txBody>
      </p:sp>
      <p:sp>
        <p:nvSpPr>
          <p:cNvPr id="5" name="Rectangle: Rounded Corners 4">
            <a:extLst>
              <a:ext uri="{FF2B5EF4-FFF2-40B4-BE49-F238E27FC236}">
                <a16:creationId xmlns:a16="http://schemas.microsoft.com/office/drawing/2014/main" id="{FBAB3220-CE86-3DC6-51CD-E2E3CE931500}"/>
              </a:ext>
            </a:extLst>
          </p:cNvPr>
          <p:cNvSpPr/>
          <p:nvPr/>
        </p:nvSpPr>
        <p:spPr>
          <a:xfrm>
            <a:off x="2203919" y="2417324"/>
            <a:ext cx="2837793" cy="17026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t>78 Days</a:t>
            </a:r>
          </a:p>
        </p:txBody>
      </p:sp>
      <p:sp>
        <p:nvSpPr>
          <p:cNvPr id="10" name="Rectangle: Rounded Corners 9">
            <a:extLst>
              <a:ext uri="{FF2B5EF4-FFF2-40B4-BE49-F238E27FC236}">
                <a16:creationId xmlns:a16="http://schemas.microsoft.com/office/drawing/2014/main" id="{844055DB-6548-14F3-AD1F-3BE92E066138}"/>
              </a:ext>
            </a:extLst>
          </p:cNvPr>
          <p:cNvSpPr/>
          <p:nvPr/>
        </p:nvSpPr>
        <p:spPr>
          <a:xfrm>
            <a:off x="7150286" y="2417324"/>
            <a:ext cx="2837793" cy="170267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t>82.5 Days</a:t>
            </a:r>
          </a:p>
        </p:txBody>
      </p:sp>
      <p:sp>
        <p:nvSpPr>
          <p:cNvPr id="11" name="Arrow: Right 10">
            <a:extLst>
              <a:ext uri="{FF2B5EF4-FFF2-40B4-BE49-F238E27FC236}">
                <a16:creationId xmlns:a16="http://schemas.microsoft.com/office/drawing/2014/main" id="{F2B2C511-B4F2-44FC-297B-9B2F58D98EE3}"/>
              </a:ext>
            </a:extLst>
          </p:cNvPr>
          <p:cNvSpPr/>
          <p:nvPr/>
        </p:nvSpPr>
        <p:spPr>
          <a:xfrm>
            <a:off x="5449613" y="2992810"/>
            <a:ext cx="1292772" cy="551705"/>
          </a:xfrm>
          <a:prstGeom prst="rightArrow">
            <a:avLst/>
          </a:prstGeom>
          <a:gradFill flip="none" rotWithShape="1">
            <a:gsLst>
              <a:gs pos="0">
                <a:schemeClr val="accent1">
                  <a:lumMod val="5000"/>
                  <a:lumOff val="95000"/>
                </a:schemeClr>
              </a:gs>
              <a:gs pos="40000">
                <a:schemeClr val="accent4">
                  <a:lumMod val="75000"/>
                </a:schemeClr>
              </a:gs>
              <a:gs pos="67000">
                <a:schemeClr val="accent6">
                  <a:lumMod val="60000"/>
                  <a:lumOff val="40000"/>
                </a:scheme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2951D96-4AEF-ECC8-E415-9AA9DB874DD9}"/>
              </a:ext>
            </a:extLst>
          </p:cNvPr>
          <p:cNvSpPr txBox="1"/>
          <p:nvPr/>
        </p:nvSpPr>
        <p:spPr>
          <a:xfrm>
            <a:off x="1706968" y="4198131"/>
            <a:ext cx="3856945" cy="400110"/>
          </a:xfrm>
          <a:prstGeom prst="rect">
            <a:avLst/>
          </a:prstGeom>
          <a:noFill/>
        </p:spPr>
        <p:txBody>
          <a:bodyPr wrap="square" rtlCol="0">
            <a:spAutoFit/>
          </a:bodyPr>
          <a:lstStyle/>
          <a:p>
            <a:pPr algn="ctr"/>
            <a:r>
              <a:rPr lang="en-US" sz="2000" b="1" dirty="0"/>
              <a:t>August Actual Days on Market</a:t>
            </a:r>
          </a:p>
        </p:txBody>
      </p:sp>
      <p:sp>
        <p:nvSpPr>
          <p:cNvPr id="15" name="TextBox 14">
            <a:extLst>
              <a:ext uri="{FF2B5EF4-FFF2-40B4-BE49-F238E27FC236}">
                <a16:creationId xmlns:a16="http://schemas.microsoft.com/office/drawing/2014/main" id="{9E3D74DD-CCC2-AA01-8C63-9244361B304F}"/>
              </a:ext>
            </a:extLst>
          </p:cNvPr>
          <p:cNvSpPr txBox="1"/>
          <p:nvPr/>
        </p:nvSpPr>
        <p:spPr>
          <a:xfrm>
            <a:off x="5981000" y="4198131"/>
            <a:ext cx="5154285" cy="400110"/>
          </a:xfrm>
          <a:prstGeom prst="rect">
            <a:avLst/>
          </a:prstGeom>
          <a:noFill/>
        </p:spPr>
        <p:txBody>
          <a:bodyPr wrap="square" rtlCol="0">
            <a:spAutoFit/>
          </a:bodyPr>
          <a:lstStyle/>
          <a:p>
            <a:pPr algn="ctr"/>
            <a:r>
              <a:rPr lang="en-US" sz="2000" b="1" dirty="0"/>
              <a:t>September Estimated Days on Market</a:t>
            </a:r>
          </a:p>
        </p:txBody>
      </p:sp>
      <p:sp>
        <p:nvSpPr>
          <p:cNvPr id="19" name="TextBox 18">
            <a:extLst>
              <a:ext uri="{FF2B5EF4-FFF2-40B4-BE49-F238E27FC236}">
                <a16:creationId xmlns:a16="http://schemas.microsoft.com/office/drawing/2014/main" id="{8EBA9D8E-0E92-C0C0-0F0F-D8B06594A221}"/>
              </a:ext>
            </a:extLst>
          </p:cNvPr>
          <p:cNvSpPr txBox="1"/>
          <p:nvPr/>
        </p:nvSpPr>
        <p:spPr>
          <a:xfrm>
            <a:off x="2916951" y="4773616"/>
            <a:ext cx="6355080" cy="584775"/>
          </a:xfrm>
          <a:prstGeom prst="rect">
            <a:avLst/>
          </a:prstGeom>
          <a:noFill/>
        </p:spPr>
        <p:txBody>
          <a:bodyPr wrap="square" rtlCol="0">
            <a:spAutoFit/>
          </a:bodyPr>
          <a:lstStyle/>
          <a:p>
            <a:pPr algn="ctr"/>
            <a:r>
              <a:rPr lang="en-US" sz="3200" b="1" i="1" dirty="0">
                <a:solidFill>
                  <a:schemeClr val="accent2">
                    <a:lumMod val="50000"/>
                  </a:schemeClr>
                </a:solidFill>
              </a:rPr>
              <a:t>About 4.5 Days Longer</a:t>
            </a:r>
          </a:p>
        </p:txBody>
      </p:sp>
      <p:pic>
        <p:nvPicPr>
          <p:cNvPr id="52" name="Audio 51">
            <a:hlinkClick r:id="" action="ppaction://media"/>
            <a:extLst>
              <a:ext uri="{FF2B5EF4-FFF2-40B4-BE49-F238E27FC236}">
                <a16:creationId xmlns:a16="http://schemas.microsoft.com/office/drawing/2014/main" id="{0D3919A3-A7CC-8CDB-3E89-12E5FA7ECCE4}"/>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7795058" y="359924"/>
            <a:ext cx="2057400" cy="2057400"/>
          </a:xfrm>
          <a:prstGeom prst="ellipse">
            <a:avLst/>
          </a:prstGeom>
        </p:spPr>
      </p:pic>
      <p:sp>
        <p:nvSpPr>
          <p:cNvPr id="39" name="Rectangle 38">
            <a:extLst>
              <a:ext uri="{FF2B5EF4-FFF2-40B4-BE49-F238E27FC236}">
                <a16:creationId xmlns:a16="http://schemas.microsoft.com/office/drawing/2014/main" id="{EF417BA5-20AC-E8AB-4126-CCF7D33E9B0B}"/>
              </a:ext>
            </a:extLst>
          </p:cNvPr>
          <p:cNvSpPr/>
          <p:nvPr/>
        </p:nvSpPr>
        <p:spPr>
          <a:xfrm>
            <a:off x="7130659" y="467375"/>
            <a:ext cx="4253407" cy="13738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0984"/>
      </p:ext>
    </p:extLst>
  </p:cSld>
  <p:clrMapOvr>
    <a:masterClrMapping/>
  </p:clrMapOvr>
  <mc:AlternateContent xmlns:mc="http://schemas.openxmlformats.org/markup-compatibility/2006" xmlns:p14="http://schemas.microsoft.com/office/powerpoint/2010/main">
    <mc:Choice Requires="p14">
      <p:transition spd="slow" p14:dur="2000" advTm="38768"/>
    </mc:Choice>
    <mc:Fallback xmlns="">
      <p:transition spd="slow" advTm="387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100000" showWhenStopped="0">
                <p:cTn id="7" fill="hold" display="0">
                  <p:stCondLst>
                    <p:cond delay="indefinite"/>
                  </p:stCondLst>
                  <p:endCondLst>
                    <p:cond evt="onStopAudio" delay="0">
                      <p:tgtEl>
                        <p:sldTgt/>
                      </p:tgtEl>
                    </p:cond>
                  </p:endCondLst>
                </p:cTn>
                <p:tgtEl>
                  <p:spTgt spid="5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A9329B-2F7A-202A-ABF9-AC2A0025FE75}"/>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967C4A4-89D4-D3C7-ABA9-ABF4CB81C9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3314C3DF-2494-F799-FD41-43841C80E5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 name="Rectangle 29">
              <a:extLst>
                <a:ext uri="{FF2B5EF4-FFF2-40B4-BE49-F238E27FC236}">
                  <a16:creationId xmlns:a16="http://schemas.microsoft.com/office/drawing/2014/main" id="{3CC2DFF6-92A1-A1E3-E8DF-2290B5133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B2D15C5-BCBF-29E0-0657-0C461B2F3A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7D727B44-C055-0897-FC81-3BA437A2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DF84D8-48D7-05F6-B7C0-6D426DF495C3}"/>
              </a:ext>
            </a:extLst>
          </p:cNvPr>
          <p:cNvSpPr>
            <a:spLocks noGrp="1"/>
          </p:cNvSpPr>
          <p:nvPr>
            <p:ph type="title"/>
          </p:nvPr>
        </p:nvSpPr>
        <p:spPr>
          <a:xfrm>
            <a:off x="811391" y="499036"/>
            <a:ext cx="7866444" cy="768104"/>
          </a:xfrm>
        </p:spPr>
        <p:txBody>
          <a:bodyPr anchor="b">
            <a:normAutofit/>
          </a:bodyPr>
          <a:lstStyle/>
          <a:p>
            <a:r>
              <a:rPr lang="en-US" sz="4000" b="1" dirty="0">
                <a:solidFill>
                  <a:schemeClr val="accent1">
                    <a:lumMod val="75000"/>
                  </a:schemeClr>
                </a:solidFill>
              </a:rPr>
              <a:t>What Informed the Forecast </a:t>
            </a:r>
          </a:p>
        </p:txBody>
      </p:sp>
      <p:sp>
        <p:nvSpPr>
          <p:cNvPr id="20" name="Rectangle 19">
            <a:extLst>
              <a:ext uri="{FF2B5EF4-FFF2-40B4-BE49-F238E27FC236}">
                <a16:creationId xmlns:a16="http://schemas.microsoft.com/office/drawing/2014/main" id="{3E795E2E-BE28-54D3-4D06-AEF4E3741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A734E91-3F70-8225-79C7-F224DB0E0750}"/>
              </a:ext>
            </a:extLst>
          </p:cNvPr>
          <p:cNvSpPr>
            <a:spLocks noGrp="1"/>
          </p:cNvSpPr>
          <p:nvPr>
            <p:ph idx="1"/>
          </p:nvPr>
        </p:nvSpPr>
        <p:spPr>
          <a:xfrm>
            <a:off x="812703" y="1757833"/>
            <a:ext cx="4854864" cy="3117811"/>
          </a:xfrm>
        </p:spPr>
        <p:txBody>
          <a:bodyPr anchor="t">
            <a:normAutofit/>
          </a:bodyPr>
          <a:lstStyle/>
          <a:p>
            <a:r>
              <a:rPr lang="en-US" dirty="0"/>
              <a:t>Current market speed and active listings mattered most</a:t>
            </a:r>
          </a:p>
          <a:p>
            <a:pPr lvl="1"/>
            <a:r>
              <a:rPr lang="en-US" dirty="0"/>
              <a:t>Other inputs: </a:t>
            </a:r>
          </a:p>
          <a:p>
            <a:pPr lvl="2"/>
            <a:r>
              <a:rPr lang="en-US" dirty="0"/>
              <a:t>New listings</a:t>
            </a:r>
          </a:p>
          <a:p>
            <a:pPr lvl="2"/>
            <a:r>
              <a:rPr lang="en-US" dirty="0"/>
              <a:t>Seasonality</a:t>
            </a:r>
          </a:p>
          <a:p>
            <a:pPr lvl="2"/>
            <a:r>
              <a:rPr lang="en-US" dirty="0"/>
              <a:t>Pending ratio</a:t>
            </a:r>
          </a:p>
          <a:p>
            <a:pPr lvl="2"/>
            <a:r>
              <a:rPr lang="en-US" dirty="0"/>
              <a:t>Prices</a:t>
            </a:r>
          </a:p>
          <a:p>
            <a:pPr lvl="2"/>
            <a:r>
              <a:rPr lang="en-US" dirty="0"/>
              <a:t>Mortgage rates</a:t>
            </a:r>
          </a:p>
          <a:p>
            <a:pPr marL="457200" lvl="1" indent="0">
              <a:buNone/>
            </a:pPr>
            <a:endParaRPr lang="en-US" dirty="0"/>
          </a:p>
        </p:txBody>
      </p:sp>
      <p:sp>
        <p:nvSpPr>
          <p:cNvPr id="4" name="Rectangle 3">
            <a:extLst>
              <a:ext uri="{FF2B5EF4-FFF2-40B4-BE49-F238E27FC236}">
                <a16:creationId xmlns:a16="http://schemas.microsoft.com/office/drawing/2014/main" id="{F5BC0D6C-3A43-19CE-3643-0DDF15ED6BA3}"/>
              </a:ext>
            </a:extLst>
          </p:cNvPr>
          <p:cNvSpPr/>
          <p:nvPr/>
        </p:nvSpPr>
        <p:spPr>
          <a:xfrm>
            <a:off x="5957331" y="2026604"/>
            <a:ext cx="5041025" cy="2829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9" name="Picture 8">
            <a:extLst>
              <a:ext uri="{FF2B5EF4-FFF2-40B4-BE49-F238E27FC236}">
                <a16:creationId xmlns:a16="http://schemas.microsoft.com/office/drawing/2014/main" id="{A0B70272-EC75-08E4-2C1C-153B14CE55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542" y="1437163"/>
            <a:ext cx="5041025" cy="244203"/>
          </a:xfrm>
          <a:prstGeom prst="rect">
            <a:avLst/>
          </a:prstGeom>
        </p:spPr>
      </p:pic>
      <p:pic>
        <p:nvPicPr>
          <p:cNvPr id="21" name="Audio 20">
            <a:hlinkClick r:id="" action="ppaction://media"/>
            <a:extLst>
              <a:ext uri="{FF2B5EF4-FFF2-40B4-BE49-F238E27FC236}">
                <a16:creationId xmlns:a16="http://schemas.microsoft.com/office/drawing/2014/main" id="{C47A7145-6710-850F-2F1F-B1412F78B33A}"/>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478364" y="4463004"/>
            <a:ext cx="2057400" cy="2057400"/>
          </a:xfrm>
          <a:prstGeom prst="ellipse">
            <a:avLst/>
          </a:prstGeom>
        </p:spPr>
      </p:pic>
      <p:sp>
        <p:nvSpPr>
          <p:cNvPr id="23" name="Rectangle 22">
            <a:extLst>
              <a:ext uri="{FF2B5EF4-FFF2-40B4-BE49-F238E27FC236}">
                <a16:creationId xmlns:a16="http://schemas.microsoft.com/office/drawing/2014/main" id="{358A731F-9AB7-CCC8-B27E-AF9EF6A39705}"/>
              </a:ext>
            </a:extLst>
          </p:cNvPr>
          <p:cNvSpPr/>
          <p:nvPr/>
        </p:nvSpPr>
        <p:spPr>
          <a:xfrm>
            <a:off x="1020351" y="4733910"/>
            <a:ext cx="2973426" cy="13738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29896B6-5341-7890-DAB3-46188CFCB34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53933" y="1870012"/>
            <a:ext cx="5283297" cy="4128963"/>
          </a:xfrm>
          <a:prstGeom prst="rect">
            <a:avLst/>
          </a:prstGeom>
          <a:ln>
            <a:solidFill>
              <a:schemeClr val="tx1"/>
            </a:solidFill>
          </a:ln>
        </p:spPr>
      </p:pic>
    </p:spTree>
    <p:extLst>
      <p:ext uri="{BB962C8B-B14F-4D97-AF65-F5344CB8AC3E}">
        <p14:creationId xmlns:p14="http://schemas.microsoft.com/office/powerpoint/2010/main" val="155319094"/>
      </p:ext>
    </p:extLst>
  </p:cSld>
  <p:clrMapOvr>
    <a:masterClrMapping/>
  </p:clrMapOvr>
  <mc:AlternateContent xmlns:mc="http://schemas.openxmlformats.org/markup-compatibility/2006" xmlns:p14="http://schemas.microsoft.com/office/powerpoint/2010/main">
    <mc:Choice Requires="p14">
      <p:transition spd="slow" p14:dur="2000" advTm="32496"/>
    </mc:Choice>
    <mc:Fallback xmlns="">
      <p:transition spd="slow" advTm="3249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E0E138-BFD5-80BB-7208-C82E74896843}"/>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FE932DBB-0DEF-D31F-E5B4-097B56A3A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2E954200-F7A3-DB81-B9E4-9B39A38779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 name="Rectangle 29">
              <a:extLst>
                <a:ext uri="{FF2B5EF4-FFF2-40B4-BE49-F238E27FC236}">
                  <a16:creationId xmlns:a16="http://schemas.microsoft.com/office/drawing/2014/main" id="{67431AB5-8D87-B5AB-3F5E-E895C52BF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A74FC16-7134-0B80-8975-687FAB6B8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02025D3-B814-ABEF-A4CD-370FDF771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F56B19-3263-4192-EDD7-DE5F0200CAB6}"/>
              </a:ext>
            </a:extLst>
          </p:cNvPr>
          <p:cNvSpPr>
            <a:spLocks noGrp="1"/>
          </p:cNvSpPr>
          <p:nvPr>
            <p:ph type="title"/>
          </p:nvPr>
        </p:nvSpPr>
        <p:spPr>
          <a:xfrm>
            <a:off x="811391" y="499036"/>
            <a:ext cx="7866444" cy="768104"/>
          </a:xfrm>
        </p:spPr>
        <p:txBody>
          <a:bodyPr anchor="b">
            <a:normAutofit/>
          </a:bodyPr>
          <a:lstStyle/>
          <a:p>
            <a:r>
              <a:rPr lang="en-US" sz="4000" b="1" dirty="0">
                <a:solidFill>
                  <a:schemeClr val="accent1">
                    <a:lumMod val="75000"/>
                  </a:schemeClr>
                </a:solidFill>
              </a:rPr>
              <a:t>Limits and Responsible Use</a:t>
            </a:r>
          </a:p>
        </p:txBody>
      </p:sp>
      <p:sp>
        <p:nvSpPr>
          <p:cNvPr id="20" name="Rectangle 19">
            <a:extLst>
              <a:ext uri="{FF2B5EF4-FFF2-40B4-BE49-F238E27FC236}">
                <a16:creationId xmlns:a16="http://schemas.microsoft.com/office/drawing/2014/main" id="{1564F408-1249-233F-7512-24F12DBA7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C01AA59-B15C-A155-ACEE-589C595E5164}"/>
              </a:ext>
            </a:extLst>
          </p:cNvPr>
          <p:cNvSpPr/>
          <p:nvPr/>
        </p:nvSpPr>
        <p:spPr>
          <a:xfrm>
            <a:off x="5957331" y="2026604"/>
            <a:ext cx="5041025" cy="2829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9" name="Picture 8">
            <a:extLst>
              <a:ext uri="{FF2B5EF4-FFF2-40B4-BE49-F238E27FC236}">
                <a16:creationId xmlns:a16="http://schemas.microsoft.com/office/drawing/2014/main" id="{DAB22C77-D217-EF59-E317-87D31B4DD0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542" y="1437163"/>
            <a:ext cx="5041025" cy="244203"/>
          </a:xfrm>
          <a:prstGeom prst="rect">
            <a:avLst/>
          </a:prstGeom>
        </p:spPr>
      </p:pic>
      <p:sp>
        <p:nvSpPr>
          <p:cNvPr id="3" name="Content Placeholder 2">
            <a:extLst>
              <a:ext uri="{FF2B5EF4-FFF2-40B4-BE49-F238E27FC236}">
                <a16:creationId xmlns:a16="http://schemas.microsoft.com/office/drawing/2014/main" id="{10F97983-0583-8D03-277E-E2692CA7BBC3}"/>
              </a:ext>
            </a:extLst>
          </p:cNvPr>
          <p:cNvSpPr>
            <a:spLocks noGrp="1"/>
          </p:cNvSpPr>
          <p:nvPr>
            <p:ph idx="1"/>
          </p:nvPr>
        </p:nvSpPr>
        <p:spPr>
          <a:xfrm>
            <a:off x="812702" y="1757833"/>
            <a:ext cx="9927015" cy="2415587"/>
          </a:xfrm>
        </p:spPr>
        <p:txBody>
          <a:bodyPr anchor="t">
            <a:normAutofit lnSpcReduction="10000"/>
          </a:bodyPr>
          <a:lstStyle/>
          <a:p>
            <a:r>
              <a:rPr lang="en-US" dirty="0"/>
              <a:t>Use the forecast with context</a:t>
            </a:r>
          </a:p>
          <a:p>
            <a:pPr lvl="1"/>
            <a:r>
              <a:rPr lang="en-US" dirty="0"/>
              <a:t>One county and one 24-month test period</a:t>
            </a:r>
          </a:p>
          <a:p>
            <a:pPr lvl="1"/>
            <a:r>
              <a:rPr lang="en-US" dirty="0"/>
              <a:t>Individual homes can differ</a:t>
            </a:r>
          </a:p>
          <a:p>
            <a:pPr lvl="1"/>
            <a:r>
              <a:rPr lang="en-US" dirty="0"/>
              <a:t>Show the historical error with every estimate</a:t>
            </a:r>
          </a:p>
          <a:p>
            <a:r>
              <a:rPr lang="en-US" dirty="0"/>
              <a:t>An estimate is not a guarantee; do not use it to target or exclude protected groups</a:t>
            </a:r>
          </a:p>
        </p:txBody>
      </p:sp>
      <p:pic>
        <p:nvPicPr>
          <p:cNvPr id="12" name="Audio 11">
            <a:hlinkClick r:id="" action="ppaction://media"/>
            <a:extLst>
              <a:ext uri="{FF2B5EF4-FFF2-40B4-BE49-F238E27FC236}">
                <a16:creationId xmlns:a16="http://schemas.microsoft.com/office/drawing/2014/main" id="{79ECCBE4-07A3-A87F-5DC9-2C7396D8F479}"/>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
        <p:nvSpPr>
          <p:cNvPr id="14" name="Rectangle 13">
            <a:extLst>
              <a:ext uri="{FF2B5EF4-FFF2-40B4-BE49-F238E27FC236}">
                <a16:creationId xmlns:a16="http://schemas.microsoft.com/office/drawing/2014/main" id="{CD392D28-003B-B9AF-E24C-E47C1C74B721}"/>
              </a:ext>
            </a:extLst>
          </p:cNvPr>
          <p:cNvSpPr/>
          <p:nvPr/>
        </p:nvSpPr>
        <p:spPr>
          <a:xfrm>
            <a:off x="8337176" y="4837416"/>
            <a:ext cx="3275296" cy="13738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044254"/>
      </p:ext>
    </p:extLst>
  </p:cSld>
  <p:clrMapOvr>
    <a:masterClrMapping/>
  </p:clrMapOvr>
  <mc:AlternateContent xmlns:mc="http://schemas.openxmlformats.org/markup-compatibility/2006" xmlns:p14="http://schemas.microsoft.com/office/powerpoint/2010/main">
    <mc:Choice Requires="p14">
      <p:transition spd="slow" p14:dur="2000" advTm="35963"/>
    </mc:Choice>
    <mc:Fallback xmlns="">
      <p:transition spd="slow" advTm="359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9CF496-7452-FCA5-13CF-23D3C93FB77A}"/>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BA2F5C2-6FCD-2919-2DCE-BA068E3086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461EAE8E-EC5D-B99A-78A3-B51965D119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 name="Rectangle 29">
              <a:extLst>
                <a:ext uri="{FF2B5EF4-FFF2-40B4-BE49-F238E27FC236}">
                  <a16:creationId xmlns:a16="http://schemas.microsoft.com/office/drawing/2014/main" id="{534594DE-37D2-78FB-C151-8E80FD39F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E230582-E4F0-078A-4DCD-700AA23C0F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8189CDDF-F1A0-3CCF-582B-8DBD5C7F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17FAD7-09E6-BE09-726F-CE52A9FD1A67}"/>
              </a:ext>
            </a:extLst>
          </p:cNvPr>
          <p:cNvSpPr>
            <a:spLocks noGrp="1"/>
          </p:cNvSpPr>
          <p:nvPr>
            <p:ph type="title"/>
          </p:nvPr>
        </p:nvSpPr>
        <p:spPr>
          <a:xfrm>
            <a:off x="811390" y="499036"/>
            <a:ext cx="9625381" cy="768104"/>
          </a:xfrm>
        </p:spPr>
        <p:txBody>
          <a:bodyPr anchor="b">
            <a:normAutofit/>
          </a:bodyPr>
          <a:lstStyle/>
          <a:p>
            <a:r>
              <a:rPr lang="en-US" sz="4000" b="1" dirty="0">
                <a:solidFill>
                  <a:schemeClr val="accent1">
                    <a:lumMod val="75000"/>
                  </a:schemeClr>
                </a:solidFill>
              </a:rPr>
              <a:t>Recommendations</a:t>
            </a:r>
          </a:p>
        </p:txBody>
      </p:sp>
      <p:sp>
        <p:nvSpPr>
          <p:cNvPr id="20" name="Rectangle 19">
            <a:extLst>
              <a:ext uri="{FF2B5EF4-FFF2-40B4-BE49-F238E27FC236}">
                <a16:creationId xmlns:a16="http://schemas.microsoft.com/office/drawing/2014/main" id="{C96B8C3D-5B91-9DD2-2C56-8C03A18D1D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AE44D7B-F6CF-D73B-6DFF-BB72941AC58A}"/>
              </a:ext>
            </a:extLst>
          </p:cNvPr>
          <p:cNvSpPr/>
          <p:nvPr/>
        </p:nvSpPr>
        <p:spPr>
          <a:xfrm>
            <a:off x="5975143" y="1971786"/>
            <a:ext cx="5041025" cy="2829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9" name="Picture 8">
            <a:extLst>
              <a:ext uri="{FF2B5EF4-FFF2-40B4-BE49-F238E27FC236}">
                <a16:creationId xmlns:a16="http://schemas.microsoft.com/office/drawing/2014/main" id="{B14BA203-748B-E950-D856-83F49C5B56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542" y="1437163"/>
            <a:ext cx="5041025" cy="244203"/>
          </a:xfrm>
          <a:prstGeom prst="rect">
            <a:avLst/>
          </a:prstGeom>
        </p:spPr>
      </p:pic>
      <p:sp>
        <p:nvSpPr>
          <p:cNvPr id="3" name="Content Placeholder 2">
            <a:extLst>
              <a:ext uri="{FF2B5EF4-FFF2-40B4-BE49-F238E27FC236}">
                <a16:creationId xmlns:a16="http://schemas.microsoft.com/office/drawing/2014/main" id="{4B01622A-473F-4ECC-F426-A89AE2A0BA59}"/>
              </a:ext>
            </a:extLst>
          </p:cNvPr>
          <p:cNvSpPr>
            <a:spLocks noGrp="1"/>
          </p:cNvSpPr>
          <p:nvPr>
            <p:ph idx="1"/>
          </p:nvPr>
        </p:nvSpPr>
        <p:spPr>
          <a:xfrm>
            <a:off x="812702" y="1757833"/>
            <a:ext cx="9927015" cy="3043759"/>
          </a:xfrm>
        </p:spPr>
        <p:txBody>
          <a:bodyPr anchor="t">
            <a:normAutofit/>
          </a:bodyPr>
          <a:lstStyle/>
          <a:p>
            <a:r>
              <a:rPr lang="en-US" dirty="0"/>
              <a:t>Add a monthly forecast to a market dashboard showing:</a:t>
            </a:r>
          </a:p>
          <a:p>
            <a:pPr lvl="1"/>
            <a:r>
              <a:rPr lang="en-US" dirty="0"/>
              <a:t>Forecast</a:t>
            </a:r>
          </a:p>
          <a:p>
            <a:pPr lvl="1"/>
            <a:r>
              <a:rPr lang="en-US" dirty="0"/>
              <a:t>Latest actual</a:t>
            </a:r>
          </a:p>
          <a:p>
            <a:pPr lvl="1"/>
            <a:r>
              <a:rPr lang="en-US" dirty="0"/>
              <a:t>Expected change</a:t>
            </a:r>
          </a:p>
          <a:p>
            <a:pPr lvl="1"/>
            <a:r>
              <a:rPr lang="en-US" dirty="0"/>
              <a:t>Historical error</a:t>
            </a:r>
          </a:p>
          <a:p>
            <a:r>
              <a:rPr lang="en-US" dirty="0"/>
              <a:t>Review unusual changes before sharing</a:t>
            </a:r>
          </a:p>
        </p:txBody>
      </p:sp>
      <p:sp>
        <p:nvSpPr>
          <p:cNvPr id="6" name="TextBox 5">
            <a:extLst>
              <a:ext uri="{FF2B5EF4-FFF2-40B4-BE49-F238E27FC236}">
                <a16:creationId xmlns:a16="http://schemas.microsoft.com/office/drawing/2014/main" id="{E9CC0CB7-D7FC-9060-F093-E1B47B115001}"/>
              </a:ext>
            </a:extLst>
          </p:cNvPr>
          <p:cNvSpPr txBox="1"/>
          <p:nvPr/>
        </p:nvSpPr>
        <p:spPr>
          <a:xfrm>
            <a:off x="884879" y="5176147"/>
            <a:ext cx="10501026" cy="830997"/>
          </a:xfrm>
          <a:prstGeom prst="rect">
            <a:avLst/>
          </a:prstGeom>
          <a:solidFill>
            <a:srgbClr val="FFFF00"/>
          </a:solidFill>
        </p:spPr>
        <p:txBody>
          <a:bodyPr wrap="square" rtlCol="0">
            <a:spAutoFit/>
          </a:bodyPr>
          <a:lstStyle/>
          <a:p>
            <a:pPr algn="ctr"/>
            <a:r>
              <a:rPr lang="en-US" sz="2400" b="1" i="1" dirty="0"/>
              <a:t>Ridge provided a useful countywide early indicator, </a:t>
            </a:r>
            <a:br>
              <a:rPr lang="en-US" sz="2400" b="1" i="1" dirty="0"/>
            </a:br>
            <a:r>
              <a:rPr lang="en-US" sz="2400" b="1" i="1" dirty="0"/>
              <a:t>with an average test error of 4.64 days</a:t>
            </a:r>
          </a:p>
        </p:txBody>
      </p:sp>
      <p:pic>
        <p:nvPicPr>
          <p:cNvPr id="48" name="Audio 47">
            <a:hlinkClick r:id="" action="ppaction://media"/>
            <a:extLst>
              <a:ext uri="{FF2B5EF4-FFF2-40B4-BE49-F238E27FC236}">
                <a16:creationId xmlns:a16="http://schemas.microsoft.com/office/drawing/2014/main" id="{CDBE9114-8D9E-52A4-B179-F845AAD8F928}"/>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8682317" y="2415030"/>
            <a:ext cx="2057400" cy="2057400"/>
          </a:xfrm>
          <a:prstGeom prst="ellipse">
            <a:avLst/>
          </a:prstGeom>
        </p:spPr>
      </p:pic>
      <p:sp>
        <p:nvSpPr>
          <p:cNvPr id="24" name="Rectangle 23">
            <a:extLst>
              <a:ext uri="{FF2B5EF4-FFF2-40B4-BE49-F238E27FC236}">
                <a16:creationId xmlns:a16="http://schemas.microsoft.com/office/drawing/2014/main" id="{D5520753-D59C-61AF-10C0-0E22CA91C550}"/>
              </a:ext>
            </a:extLst>
          </p:cNvPr>
          <p:cNvSpPr/>
          <p:nvPr/>
        </p:nvSpPr>
        <p:spPr>
          <a:xfrm>
            <a:off x="8727141" y="2865053"/>
            <a:ext cx="2658764" cy="13738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3211816"/>
      </p:ext>
    </p:extLst>
  </p:cSld>
  <p:clrMapOvr>
    <a:masterClrMapping/>
  </p:clrMapOvr>
  <mc:AlternateContent xmlns:mc="http://schemas.openxmlformats.org/markup-compatibility/2006" xmlns:p14="http://schemas.microsoft.com/office/powerpoint/2010/main">
    <mc:Choice Requires="p14">
      <p:transition spd="slow" p14:dur="2000" advTm="47638"/>
    </mc:Choice>
    <mc:Fallback xmlns="">
      <p:transition spd="slow" advTm="476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8"/>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E0E138-BFD5-80BB-7208-C82E74896843}"/>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FE932DBB-0DEF-D31F-E5B4-097B56A3A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2E954200-F7A3-DB81-B9E4-9B39A38779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0" name="Rectangle 29">
              <a:extLst>
                <a:ext uri="{FF2B5EF4-FFF2-40B4-BE49-F238E27FC236}">
                  <a16:creationId xmlns:a16="http://schemas.microsoft.com/office/drawing/2014/main" id="{67431AB5-8D87-B5AB-3F5E-E895C52BF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A74FC16-7134-0B80-8975-687FAB6B8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02025D3-B814-ABEF-A4CD-370FDF771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F56B19-3263-4192-EDD7-DE5F0200CAB6}"/>
              </a:ext>
            </a:extLst>
          </p:cNvPr>
          <p:cNvSpPr>
            <a:spLocks noGrp="1"/>
          </p:cNvSpPr>
          <p:nvPr>
            <p:ph type="title"/>
          </p:nvPr>
        </p:nvSpPr>
        <p:spPr>
          <a:xfrm>
            <a:off x="811391" y="499036"/>
            <a:ext cx="7866444" cy="768104"/>
          </a:xfrm>
        </p:spPr>
        <p:txBody>
          <a:bodyPr anchor="b">
            <a:normAutofit/>
          </a:bodyPr>
          <a:lstStyle/>
          <a:p>
            <a:r>
              <a:rPr lang="en-US" sz="4000" b="1" dirty="0">
                <a:solidFill>
                  <a:schemeClr val="accent1">
                    <a:lumMod val="75000"/>
                  </a:schemeClr>
                </a:solidFill>
              </a:rPr>
              <a:t>References</a:t>
            </a:r>
          </a:p>
        </p:txBody>
      </p:sp>
      <p:sp>
        <p:nvSpPr>
          <p:cNvPr id="20" name="Rectangle 19">
            <a:extLst>
              <a:ext uri="{FF2B5EF4-FFF2-40B4-BE49-F238E27FC236}">
                <a16:creationId xmlns:a16="http://schemas.microsoft.com/office/drawing/2014/main" id="{1564F408-1249-233F-7512-24F12DBA7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C01AA59-B15C-A155-ACEE-589C595E5164}"/>
              </a:ext>
            </a:extLst>
          </p:cNvPr>
          <p:cNvSpPr/>
          <p:nvPr/>
        </p:nvSpPr>
        <p:spPr>
          <a:xfrm>
            <a:off x="5957331" y="2026604"/>
            <a:ext cx="5041025" cy="2829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9" name="Picture 8">
            <a:extLst>
              <a:ext uri="{FF2B5EF4-FFF2-40B4-BE49-F238E27FC236}">
                <a16:creationId xmlns:a16="http://schemas.microsoft.com/office/drawing/2014/main" id="{DAB22C77-D217-EF59-E317-87D31B4DD0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542" y="1437163"/>
            <a:ext cx="5041025" cy="244203"/>
          </a:xfrm>
          <a:prstGeom prst="rect">
            <a:avLst/>
          </a:prstGeom>
        </p:spPr>
      </p:pic>
      <p:sp>
        <p:nvSpPr>
          <p:cNvPr id="3" name="Content Placeholder 2">
            <a:extLst>
              <a:ext uri="{FF2B5EF4-FFF2-40B4-BE49-F238E27FC236}">
                <a16:creationId xmlns:a16="http://schemas.microsoft.com/office/drawing/2014/main" id="{10F97983-0583-8D03-277E-E2692CA7BBC3}"/>
              </a:ext>
            </a:extLst>
          </p:cNvPr>
          <p:cNvSpPr>
            <a:spLocks noGrp="1"/>
          </p:cNvSpPr>
          <p:nvPr>
            <p:ph idx="1"/>
          </p:nvPr>
        </p:nvSpPr>
        <p:spPr>
          <a:xfrm>
            <a:off x="812702" y="1757833"/>
            <a:ext cx="9927015" cy="2415587"/>
          </a:xfrm>
        </p:spPr>
        <p:txBody>
          <a:bodyPr anchor="t">
            <a:normAutofit fontScale="85000" lnSpcReduction="20000"/>
          </a:bodyPr>
          <a:lstStyle/>
          <a:p>
            <a:r>
              <a:rPr lang="en-US" dirty="0"/>
              <a:t>Freddie Mac. (n.d.). Primary Mortgage Market Survey [Data set]. Retrieved September 5, 2026, from https://www.freddiemac.com/pmms</a:t>
            </a:r>
          </a:p>
          <a:p>
            <a:r>
              <a:rPr lang="en-US" dirty="0"/>
              <a:t>Realtor.com Economic Research. (n.d.). Residential real estate data library [Data set]. Retrieved September 5, 2026, from https://www.realtor.com/research/data/</a:t>
            </a:r>
          </a:p>
          <a:p>
            <a:r>
              <a:rPr lang="en-US" dirty="0"/>
              <a:t>U.S. Department of Housing and Urban Development. (n.d.). Housing discrimination under the Fair Housing Act. https://www.hud.gov/helping-americans/fair-housing-act-overview</a:t>
            </a:r>
          </a:p>
          <a:p>
            <a:pPr marL="0" indent="0">
              <a:buNone/>
            </a:pPr>
            <a:endParaRPr lang="en-US" dirty="0"/>
          </a:p>
        </p:txBody>
      </p:sp>
      <p:pic>
        <p:nvPicPr>
          <p:cNvPr id="12" name="Audio 11">
            <a:hlinkClick r:id="" action="ppaction://media"/>
            <a:extLst>
              <a:ext uri="{FF2B5EF4-FFF2-40B4-BE49-F238E27FC236}">
                <a16:creationId xmlns:a16="http://schemas.microsoft.com/office/drawing/2014/main" id="{79ECCBE4-07A3-A87F-5DC9-2C7396D8F479}"/>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
        <p:nvSpPr>
          <p:cNvPr id="14" name="Rectangle 13">
            <a:extLst>
              <a:ext uri="{FF2B5EF4-FFF2-40B4-BE49-F238E27FC236}">
                <a16:creationId xmlns:a16="http://schemas.microsoft.com/office/drawing/2014/main" id="{CD392D28-003B-B9AF-E24C-E47C1C74B721}"/>
              </a:ext>
            </a:extLst>
          </p:cNvPr>
          <p:cNvSpPr/>
          <p:nvPr/>
        </p:nvSpPr>
        <p:spPr>
          <a:xfrm>
            <a:off x="8337176" y="4837416"/>
            <a:ext cx="3275296" cy="13738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4624030"/>
      </p:ext>
    </p:extLst>
  </p:cSld>
  <p:clrMapOvr>
    <a:masterClrMapping/>
  </p:clrMapOvr>
  <mc:AlternateContent xmlns:mc="http://schemas.openxmlformats.org/markup-compatibility/2006" xmlns:p14="http://schemas.microsoft.com/office/powerpoint/2010/main">
    <mc:Choice Requires="p14">
      <p:transition spd="slow" p14:dur="2000" advTm="35963"/>
    </mc:Choice>
    <mc:Fallback xmlns="">
      <p:transition spd="slow" advTm="359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F37AEB8AEFFE4DB8E16FB49253F7E2" ma:contentTypeVersion="4" ma:contentTypeDescription="Create a new document." ma:contentTypeScope="" ma:versionID="36403acf7a29f226c18d59e4224ae0f4">
  <xsd:schema xmlns:xsd="http://www.w3.org/2001/XMLSchema" xmlns:xs="http://www.w3.org/2001/XMLSchema" xmlns:p="http://schemas.microsoft.com/office/2006/metadata/properties" xmlns:ns3="692499ea-6544-4799-a95d-51409ae91c50" targetNamespace="http://schemas.microsoft.com/office/2006/metadata/properties" ma:root="true" ma:fieldsID="a8aaf5120f89558e082fe258d58bb4de" ns3:_="">
    <xsd:import namespace="692499ea-6544-4799-a95d-51409ae91c50"/>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2499ea-6544-4799-a95d-51409ae91c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D65A2CF-BA47-4805-87F9-C6717F0790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2499ea-6544-4799-a95d-51409ae91c5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49183AB-1077-4A4F-8E58-4D77576F2429}">
  <ds:schemaRefs>
    <ds:schemaRef ds:uri="http://schemas.microsoft.com/sharepoint/v3/contenttype/forms"/>
  </ds:schemaRefs>
</ds:datastoreItem>
</file>

<file path=customXml/itemProps3.xml><?xml version="1.0" encoding="utf-8"?>
<ds:datastoreItem xmlns:ds="http://schemas.openxmlformats.org/officeDocument/2006/customXml" ds:itemID="{67F52DE6-A32C-429B-AF79-AAB238BD1306}">
  <ds:schemaRefs>
    <ds:schemaRef ds:uri="http://purl.org/dc/dcmitype/"/>
    <ds:schemaRef ds:uri="http://purl.org/dc/elements/1.1/"/>
    <ds:schemaRef ds:uri="http://schemas.microsoft.com/office/infopath/2007/PartnerControls"/>
    <ds:schemaRef ds:uri="http://schemas.microsoft.com/office/2006/documentManagement/types"/>
    <ds:schemaRef ds:uri="http://www.w3.org/XML/1998/namespace"/>
    <ds:schemaRef ds:uri="http://schemas.microsoft.com/office/2006/metadata/properties"/>
    <ds:schemaRef ds:uri="http://schemas.openxmlformats.org/package/2006/metadata/core-properties"/>
    <ds:schemaRef ds:uri="692499ea-6544-4799-a95d-51409ae91c50"/>
    <ds:schemaRef ds:uri="http://purl.org/dc/terms/"/>
  </ds:schemaRefs>
</ds:datastoreItem>
</file>

<file path=docProps/app.xml><?xml version="1.0" encoding="utf-8"?>
<Properties xmlns="http://schemas.openxmlformats.org/officeDocument/2006/extended-properties" xmlns:vt="http://schemas.openxmlformats.org/officeDocument/2006/docPropsVTypes">
  <TotalTime>455</TotalTime>
  <Words>1451</Words>
  <Application>Microsoft Office PowerPoint</Application>
  <PresentationFormat>Widescreen</PresentationFormat>
  <Paragraphs>98</Paragraphs>
  <Slides>12</Slides>
  <Notes>12</Notes>
  <HiddenSlides>0</HiddenSlides>
  <MMClips>13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The Business Question </vt:lpstr>
      <vt:lpstr>Why Market Speed Matters</vt:lpstr>
      <vt:lpstr>Data and Preparation</vt:lpstr>
      <vt:lpstr>A Fair Test of the Forecast</vt:lpstr>
      <vt:lpstr>Which Approach Worked Best</vt:lpstr>
      <vt:lpstr>What did the Predictions Look Like</vt:lpstr>
      <vt:lpstr>September 2026 Estimate</vt:lpstr>
      <vt:lpstr>What Informed the Forecast </vt:lpstr>
      <vt:lpstr>Limits and Responsible Use</vt:lpstr>
      <vt:lpstr>Recommendations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Teresa Ferrill</dc:creator>
  <cp:lastModifiedBy>Teresa Ferrill</cp:lastModifiedBy>
  <cp:revision>28</cp:revision>
  <dcterms:created xsi:type="dcterms:W3CDTF">2026-04-25T05:09:10Z</dcterms:created>
  <dcterms:modified xsi:type="dcterms:W3CDTF">2026-10-01T00:13:41Z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0x01010006F37AEB8AEFFE4DB8E16FB49253F7E2</vt:lpwstr>
  </property>
</Properties>
</file>